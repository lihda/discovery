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4"/>
  </p:notesMasterIdLst>
  <p:sldIdLst>
    <p:sldId id="256" r:id="rId3"/>
  </p:sldIdLst>
  <p:sldSz cx="9753600" cy="5324475"/>
  <p:notesSz cx="6858000" cy="9144000"/>
  <p:embeddedFontLst>
    <p:embeddedFont>
      <p:font typeface="Arial Narrow" panose="020B0606020202030204"/>
      <p:regular r:id="rId8"/>
    </p:embeddedFont>
  </p:embeddedFontLst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48" name="R1-row-background"/>
          <p:cNvSpPr>
            <a:spLocks noGrp="1"/>
          </p:cNvSpPr>
          <p:nvPr/>
        </p:nvSpPr>
        <p:spPr>
          <a:xfrm>
            <a:off x="455930" y="790575"/>
            <a:ext cx="6563995" cy="590550"/>
          </a:xfrm>
          <a:prstGeom prst="roundRect">
            <a:avLst>
              <a:gd name="adj" fmla="val 9677"/>
            </a:avLst>
          </a:prstGeom>
          <a:noFill/>
          <a:ln w="0">
            <a:solidFill>
              <a:srgbClr val="EDF5FA"/>
            </a:solidFill>
            <a:prstDash val="solid"/>
          </a:ln>
        </p:spPr>
      </p:sp>
      <p:sp>
        <p:nvSpPr>
          <p:cNvPr id="2" name="R2-row-background"/>
          <p:cNvSpPr>
            <a:spLocks noGrp="1"/>
          </p:cNvSpPr>
          <p:nvPr/>
        </p:nvSpPr>
        <p:spPr>
          <a:xfrm>
            <a:off x="438150" y="1428750"/>
            <a:ext cx="6581775" cy="581025"/>
          </a:xfrm>
          <a:prstGeom prst="roundRect">
            <a:avLst>
              <a:gd name="adj" fmla="val 9836"/>
            </a:avLst>
          </a:prstGeom>
          <a:noFill/>
          <a:ln w="0">
            <a:solidFill>
              <a:srgbClr val="E7F3F6"/>
            </a:solidFill>
            <a:prstDash val="solid"/>
          </a:ln>
        </p:spPr>
      </p:sp>
      <p:sp>
        <p:nvSpPr>
          <p:cNvPr id="3" name="R3-row-background"/>
          <p:cNvSpPr>
            <a:spLocks noGrp="1"/>
          </p:cNvSpPr>
          <p:nvPr/>
        </p:nvSpPr>
        <p:spPr>
          <a:xfrm>
            <a:off x="438150" y="2057400"/>
            <a:ext cx="6581775" cy="581025"/>
          </a:xfrm>
          <a:prstGeom prst="roundRect">
            <a:avLst>
              <a:gd name="adj" fmla="val 9836"/>
            </a:avLst>
          </a:prstGeom>
          <a:noFill/>
          <a:ln w="0">
            <a:solidFill>
              <a:srgbClr val="E5F4F1"/>
            </a:solidFill>
            <a:prstDash val="solid"/>
          </a:ln>
        </p:spPr>
      </p:sp>
      <p:sp>
        <p:nvSpPr>
          <p:cNvPr id="4" name="R4-row-background"/>
          <p:cNvSpPr>
            <a:spLocks noGrp="1"/>
          </p:cNvSpPr>
          <p:nvPr/>
        </p:nvSpPr>
        <p:spPr>
          <a:xfrm>
            <a:off x="454660" y="2686050"/>
            <a:ext cx="6565265" cy="581025"/>
          </a:xfrm>
          <a:prstGeom prst="roundRect">
            <a:avLst>
              <a:gd name="adj" fmla="val 9836"/>
            </a:avLst>
          </a:prstGeom>
          <a:noFill/>
          <a:ln w="0">
            <a:solidFill>
              <a:srgbClr val="EEF7EF"/>
            </a:solidFill>
            <a:prstDash val="solid"/>
          </a:ln>
        </p:spPr>
      </p:sp>
      <p:sp>
        <p:nvSpPr>
          <p:cNvPr id="5" name="R5-row-background"/>
          <p:cNvSpPr>
            <a:spLocks noGrp="1"/>
          </p:cNvSpPr>
          <p:nvPr/>
        </p:nvSpPr>
        <p:spPr>
          <a:xfrm>
            <a:off x="455295" y="3314700"/>
            <a:ext cx="6564630" cy="581025"/>
          </a:xfrm>
          <a:prstGeom prst="roundRect">
            <a:avLst>
              <a:gd name="adj" fmla="val 9836"/>
            </a:avLst>
          </a:prstGeom>
          <a:noFill/>
          <a:ln w="0">
            <a:solidFill>
              <a:srgbClr val="E8F4F3"/>
            </a:solidFill>
            <a:prstDash val="solid"/>
          </a:ln>
        </p:spPr>
      </p:sp>
      <p:sp>
        <p:nvSpPr>
          <p:cNvPr id="6" name="R6-row-background"/>
          <p:cNvSpPr>
            <a:spLocks noGrp="1"/>
          </p:cNvSpPr>
          <p:nvPr/>
        </p:nvSpPr>
        <p:spPr>
          <a:xfrm>
            <a:off x="455930" y="3943350"/>
            <a:ext cx="6563995" cy="581025"/>
          </a:xfrm>
          <a:prstGeom prst="roundRect">
            <a:avLst>
              <a:gd name="adj" fmla="val 9836"/>
            </a:avLst>
          </a:prstGeom>
          <a:noFill/>
          <a:ln w="0">
            <a:solidFill>
              <a:srgbClr val="E8F3F7"/>
            </a:solidFill>
            <a:prstDash val="solid"/>
          </a:ln>
        </p:spPr>
      </p:sp>
      <p:sp>
        <p:nvSpPr>
          <p:cNvPr id="7" name="R7-row-background"/>
          <p:cNvSpPr>
            <a:spLocks noGrp="1"/>
          </p:cNvSpPr>
          <p:nvPr/>
        </p:nvSpPr>
        <p:spPr>
          <a:xfrm>
            <a:off x="454660" y="4572000"/>
            <a:ext cx="6565265" cy="571500"/>
          </a:xfrm>
          <a:prstGeom prst="roundRect">
            <a:avLst>
              <a:gd name="adj" fmla="val 10000"/>
            </a:avLst>
          </a:prstGeom>
          <a:noFill/>
          <a:ln w="0">
            <a:solidFill>
              <a:srgbClr val="ECF1F7"/>
            </a:solidFill>
            <a:prstDash val="solid"/>
          </a:ln>
        </p:spPr>
      </p:sp>
      <p:sp>
        <p:nvSpPr>
          <p:cNvPr id="9" name="R1-criterion-to-evidence"/>
          <p:cNvSpPr>
            <a:spLocks noGrp="1"/>
          </p:cNvSpPr>
          <p:nvPr/>
        </p:nvSpPr>
        <p:spPr>
          <a:xfrm>
            <a:off x="2000250" y="1047750"/>
            <a:ext cx="171450" cy="76200"/>
          </a:xfrm>
          <a:prstGeom prst="rightArrow">
            <a:avLst/>
          </a:prstGeom>
          <a:solidFill>
            <a:srgbClr val="78A9C2"/>
          </a:solidFill>
          <a:ln w="0">
            <a:solidFill>
              <a:srgbClr val="78A9C2"/>
            </a:solidFill>
            <a:prstDash val="solid"/>
          </a:ln>
        </p:spPr>
      </p:sp>
      <p:sp>
        <p:nvSpPr>
          <p:cNvPr id="10" name="R1-evidence-to-rule"/>
          <p:cNvSpPr>
            <a:spLocks noGrp="1"/>
          </p:cNvSpPr>
          <p:nvPr/>
        </p:nvSpPr>
        <p:spPr>
          <a:xfrm>
            <a:off x="4124325" y="1052513"/>
            <a:ext cx="76200" cy="66675"/>
          </a:xfrm>
          <a:prstGeom prst="rightArrow">
            <a:avLst/>
          </a:prstGeom>
          <a:solidFill>
            <a:srgbClr val="78A9C2"/>
          </a:solidFill>
          <a:ln w="0">
            <a:solidFill>
              <a:srgbClr val="78A9C2"/>
            </a:solidFill>
            <a:prstDash val="solid"/>
          </a:ln>
        </p:spPr>
      </p:sp>
      <p:sp>
        <p:nvSpPr>
          <p:cNvPr id="11" name="R1-rule-to-result"/>
          <p:cNvSpPr>
            <a:spLocks noGrp="1"/>
          </p:cNvSpPr>
          <p:nvPr/>
        </p:nvSpPr>
        <p:spPr>
          <a:xfrm>
            <a:off x="6238875" y="1052513"/>
            <a:ext cx="171450" cy="66675"/>
          </a:xfrm>
          <a:prstGeom prst="rightArrow">
            <a:avLst/>
          </a:prstGeom>
          <a:solidFill>
            <a:srgbClr val="78A9C2"/>
          </a:solidFill>
          <a:ln w="0">
            <a:solidFill>
              <a:srgbClr val="78A9C2"/>
            </a:solidFill>
            <a:prstDash val="solid"/>
          </a:ln>
        </p:spPr>
      </p:sp>
      <p:sp>
        <p:nvSpPr>
          <p:cNvPr id="14" name="R2-criterion-to-evidence"/>
          <p:cNvSpPr>
            <a:spLocks noGrp="1"/>
          </p:cNvSpPr>
          <p:nvPr/>
        </p:nvSpPr>
        <p:spPr>
          <a:xfrm>
            <a:off x="2000250" y="1681163"/>
            <a:ext cx="171450" cy="76200"/>
          </a:xfrm>
          <a:prstGeom prst="rightArrow">
            <a:avLst/>
          </a:prstGeom>
          <a:solidFill>
            <a:srgbClr val="71ADBF"/>
          </a:solidFill>
          <a:ln w="0">
            <a:solidFill>
              <a:srgbClr val="71ADBF"/>
            </a:solidFill>
            <a:prstDash val="solid"/>
          </a:ln>
        </p:spPr>
      </p:sp>
      <p:sp>
        <p:nvSpPr>
          <p:cNvPr id="15" name="R2-evidence-to-rule"/>
          <p:cNvSpPr>
            <a:spLocks noGrp="1"/>
          </p:cNvSpPr>
          <p:nvPr/>
        </p:nvSpPr>
        <p:spPr>
          <a:xfrm>
            <a:off x="4638675" y="1685925"/>
            <a:ext cx="76200" cy="66675"/>
          </a:xfrm>
          <a:prstGeom prst="rightArrow">
            <a:avLst/>
          </a:prstGeom>
          <a:solidFill>
            <a:srgbClr val="71ADBF"/>
          </a:solidFill>
          <a:ln w="0">
            <a:solidFill>
              <a:srgbClr val="71ADBF"/>
            </a:solidFill>
            <a:prstDash val="solid"/>
          </a:ln>
        </p:spPr>
      </p:sp>
      <p:sp>
        <p:nvSpPr>
          <p:cNvPr id="16" name="R2-rule-to-result"/>
          <p:cNvSpPr>
            <a:spLocks noGrp="1"/>
          </p:cNvSpPr>
          <p:nvPr/>
        </p:nvSpPr>
        <p:spPr>
          <a:xfrm>
            <a:off x="6229350" y="1685925"/>
            <a:ext cx="171450" cy="66675"/>
          </a:xfrm>
          <a:prstGeom prst="rightArrow">
            <a:avLst/>
          </a:prstGeom>
          <a:solidFill>
            <a:srgbClr val="71ADBF"/>
          </a:solidFill>
          <a:ln w="0">
            <a:solidFill>
              <a:srgbClr val="71ADBF"/>
            </a:solidFill>
            <a:prstDash val="solid"/>
          </a:ln>
        </p:spPr>
      </p:sp>
      <p:sp>
        <p:nvSpPr>
          <p:cNvPr id="19" name="R3-criterion-to-evidence"/>
          <p:cNvSpPr>
            <a:spLocks noGrp="1"/>
          </p:cNvSpPr>
          <p:nvPr/>
        </p:nvSpPr>
        <p:spPr>
          <a:xfrm>
            <a:off x="2000250" y="2309813"/>
            <a:ext cx="171450" cy="76200"/>
          </a:xfrm>
          <a:prstGeom prst="rightArrow">
            <a:avLst/>
          </a:prstGeom>
          <a:solidFill>
            <a:srgbClr val="67B5A9"/>
          </a:solidFill>
          <a:ln w="0">
            <a:solidFill>
              <a:srgbClr val="67B5A9"/>
            </a:solidFill>
            <a:prstDash val="solid"/>
          </a:ln>
        </p:spPr>
      </p:sp>
      <p:sp>
        <p:nvSpPr>
          <p:cNvPr id="20" name="R3-evidence-to-rule"/>
          <p:cNvSpPr>
            <a:spLocks noGrp="1"/>
          </p:cNvSpPr>
          <p:nvPr/>
        </p:nvSpPr>
        <p:spPr>
          <a:xfrm>
            <a:off x="4638675" y="2314575"/>
            <a:ext cx="76200" cy="66675"/>
          </a:xfrm>
          <a:prstGeom prst="rightArrow">
            <a:avLst/>
          </a:prstGeom>
          <a:solidFill>
            <a:srgbClr val="67B5A9"/>
          </a:solidFill>
          <a:ln w="0">
            <a:solidFill>
              <a:srgbClr val="67B5A9"/>
            </a:solidFill>
            <a:prstDash val="solid"/>
          </a:ln>
        </p:spPr>
      </p:sp>
      <p:sp>
        <p:nvSpPr>
          <p:cNvPr id="21" name="R3-rule-to-pass"/>
          <p:cNvSpPr>
            <a:spLocks noGrp="1"/>
          </p:cNvSpPr>
          <p:nvPr/>
        </p:nvSpPr>
        <p:spPr>
          <a:xfrm>
            <a:off x="6229350" y="2209800"/>
            <a:ext cx="171450" cy="66675"/>
          </a:xfrm>
          <a:prstGeom prst="rightArrow">
            <a:avLst/>
          </a:prstGeom>
          <a:solidFill>
            <a:srgbClr val="D9781E"/>
          </a:solidFill>
          <a:ln w="0">
            <a:solidFill>
              <a:srgbClr val="D9781E"/>
            </a:solidFill>
            <a:prstDash val="solid"/>
          </a:ln>
        </p:spPr>
      </p:sp>
      <p:sp>
        <p:nvSpPr>
          <p:cNvPr id="22" name="R3-rule-to-fail"/>
          <p:cNvSpPr>
            <a:spLocks noGrp="1"/>
          </p:cNvSpPr>
          <p:nvPr/>
        </p:nvSpPr>
        <p:spPr>
          <a:xfrm>
            <a:off x="6229350" y="2419350"/>
            <a:ext cx="171450" cy="66675"/>
          </a:xfrm>
          <a:prstGeom prst="rightArrow">
            <a:avLst/>
          </a:prstGeom>
          <a:solidFill>
            <a:srgbClr val="D9781E"/>
          </a:solidFill>
          <a:ln w="0">
            <a:solidFill>
              <a:srgbClr val="D9781E"/>
            </a:solidFill>
            <a:prstDash val="solid"/>
          </a:ln>
        </p:spPr>
      </p:sp>
      <p:sp>
        <p:nvSpPr>
          <p:cNvPr id="25" name="R4-criterion-to-evidence"/>
          <p:cNvSpPr>
            <a:spLocks noGrp="1"/>
          </p:cNvSpPr>
          <p:nvPr/>
        </p:nvSpPr>
        <p:spPr>
          <a:xfrm>
            <a:off x="2000250" y="2938463"/>
            <a:ext cx="171450" cy="76200"/>
          </a:xfrm>
          <a:prstGeom prst="rightArrow">
            <a:avLst/>
          </a:prstGeom>
          <a:solidFill>
            <a:srgbClr val="75B58B"/>
          </a:solidFill>
          <a:ln w="0">
            <a:solidFill>
              <a:srgbClr val="75B58B"/>
            </a:solidFill>
            <a:prstDash val="solid"/>
          </a:ln>
        </p:spPr>
      </p:sp>
      <p:sp>
        <p:nvSpPr>
          <p:cNvPr id="26" name="R4-evidence-to-rule"/>
          <p:cNvSpPr>
            <a:spLocks noGrp="1"/>
          </p:cNvSpPr>
          <p:nvPr/>
        </p:nvSpPr>
        <p:spPr>
          <a:xfrm>
            <a:off x="3686175" y="2943225"/>
            <a:ext cx="561975" cy="66675"/>
          </a:xfrm>
          <a:prstGeom prst="rightArrow">
            <a:avLst/>
          </a:prstGeom>
          <a:solidFill>
            <a:srgbClr val="75B58B"/>
          </a:solidFill>
          <a:ln w="0">
            <a:solidFill>
              <a:srgbClr val="75B58B"/>
            </a:solidFill>
            <a:prstDash val="solid"/>
          </a:ln>
        </p:spPr>
      </p:sp>
      <p:sp>
        <p:nvSpPr>
          <p:cNvPr id="27" name="R4-rule-to-result"/>
          <p:cNvSpPr>
            <a:spLocks noGrp="1"/>
          </p:cNvSpPr>
          <p:nvPr/>
        </p:nvSpPr>
        <p:spPr>
          <a:xfrm>
            <a:off x="6248400" y="2943225"/>
            <a:ext cx="171450" cy="66675"/>
          </a:xfrm>
          <a:prstGeom prst="rightArrow">
            <a:avLst/>
          </a:prstGeom>
          <a:solidFill>
            <a:srgbClr val="75B58B"/>
          </a:solidFill>
          <a:ln w="0">
            <a:solidFill>
              <a:srgbClr val="75B58B"/>
            </a:solidFill>
            <a:prstDash val="solid"/>
          </a:ln>
        </p:spPr>
      </p:sp>
      <p:sp>
        <p:nvSpPr>
          <p:cNvPr id="30" name="R5-criterion-to-evidence"/>
          <p:cNvSpPr>
            <a:spLocks noGrp="1"/>
          </p:cNvSpPr>
          <p:nvPr/>
        </p:nvSpPr>
        <p:spPr>
          <a:xfrm>
            <a:off x="2000250" y="3567113"/>
            <a:ext cx="171450" cy="76200"/>
          </a:xfrm>
          <a:prstGeom prst="rightArrow">
            <a:avLst/>
          </a:prstGeom>
          <a:solidFill>
            <a:srgbClr val="69B3AD"/>
          </a:solidFill>
          <a:ln w="0">
            <a:solidFill>
              <a:srgbClr val="69B3AD"/>
            </a:solidFill>
            <a:prstDash val="solid"/>
          </a:ln>
        </p:spPr>
      </p:sp>
      <p:sp>
        <p:nvSpPr>
          <p:cNvPr id="31" name="R5-evidence-to-rule"/>
          <p:cNvSpPr>
            <a:spLocks noGrp="1"/>
          </p:cNvSpPr>
          <p:nvPr/>
        </p:nvSpPr>
        <p:spPr>
          <a:xfrm>
            <a:off x="4638675" y="3571875"/>
            <a:ext cx="76200" cy="66675"/>
          </a:xfrm>
          <a:prstGeom prst="rightArrow">
            <a:avLst/>
          </a:prstGeom>
          <a:solidFill>
            <a:srgbClr val="69B3AD"/>
          </a:solidFill>
          <a:ln w="0">
            <a:solidFill>
              <a:srgbClr val="69B3AD"/>
            </a:solidFill>
            <a:prstDash val="solid"/>
          </a:ln>
        </p:spPr>
      </p:sp>
      <p:sp>
        <p:nvSpPr>
          <p:cNvPr id="32" name="R5-rule-to-pass"/>
          <p:cNvSpPr>
            <a:spLocks noGrp="1"/>
          </p:cNvSpPr>
          <p:nvPr/>
        </p:nvSpPr>
        <p:spPr>
          <a:xfrm>
            <a:off x="6229350" y="3467100"/>
            <a:ext cx="171450" cy="66675"/>
          </a:xfrm>
          <a:prstGeom prst="rightArrow">
            <a:avLst/>
          </a:prstGeom>
          <a:solidFill>
            <a:srgbClr val="D9781E"/>
          </a:solidFill>
          <a:ln w="0">
            <a:solidFill>
              <a:srgbClr val="D9781E"/>
            </a:solidFill>
            <a:prstDash val="solid"/>
          </a:ln>
        </p:spPr>
      </p:sp>
      <p:sp>
        <p:nvSpPr>
          <p:cNvPr id="33" name="R5-rule-to-fail"/>
          <p:cNvSpPr>
            <a:spLocks noGrp="1"/>
          </p:cNvSpPr>
          <p:nvPr/>
        </p:nvSpPr>
        <p:spPr>
          <a:xfrm>
            <a:off x="6229350" y="3676650"/>
            <a:ext cx="171450" cy="66675"/>
          </a:xfrm>
          <a:prstGeom prst="rightArrow">
            <a:avLst/>
          </a:prstGeom>
          <a:solidFill>
            <a:srgbClr val="D9781E"/>
          </a:solidFill>
          <a:ln w="0">
            <a:solidFill>
              <a:srgbClr val="D9781E"/>
            </a:solidFill>
            <a:prstDash val="solid"/>
          </a:ln>
        </p:spPr>
      </p:sp>
      <p:sp>
        <p:nvSpPr>
          <p:cNvPr id="36" name="R6-criterion-to-evidence"/>
          <p:cNvSpPr>
            <a:spLocks noGrp="1"/>
          </p:cNvSpPr>
          <p:nvPr/>
        </p:nvSpPr>
        <p:spPr>
          <a:xfrm>
            <a:off x="2000250" y="4195763"/>
            <a:ext cx="171450" cy="76200"/>
          </a:xfrm>
          <a:prstGeom prst="rightArrow">
            <a:avLst/>
          </a:prstGeom>
          <a:solidFill>
            <a:srgbClr val="4F9EAD"/>
          </a:solidFill>
          <a:ln w="0">
            <a:solidFill>
              <a:srgbClr val="4F9EAD"/>
            </a:solidFill>
            <a:prstDash val="solid"/>
          </a:ln>
        </p:spPr>
      </p:sp>
      <p:sp>
        <p:nvSpPr>
          <p:cNvPr id="37" name="R6-evidence-to-rule"/>
          <p:cNvSpPr>
            <a:spLocks noGrp="1"/>
          </p:cNvSpPr>
          <p:nvPr/>
        </p:nvSpPr>
        <p:spPr>
          <a:xfrm>
            <a:off x="5057775" y="4200525"/>
            <a:ext cx="76200" cy="66675"/>
          </a:xfrm>
          <a:prstGeom prst="rightArrow">
            <a:avLst/>
          </a:prstGeom>
          <a:solidFill>
            <a:srgbClr val="4F9EAD"/>
          </a:solidFill>
          <a:ln w="0">
            <a:solidFill>
              <a:srgbClr val="4F9EAD"/>
            </a:solidFill>
            <a:prstDash val="solid"/>
          </a:ln>
        </p:spPr>
      </p:sp>
      <p:sp>
        <p:nvSpPr>
          <p:cNvPr id="38" name="R6-rule-to-result"/>
          <p:cNvSpPr>
            <a:spLocks noGrp="1"/>
          </p:cNvSpPr>
          <p:nvPr/>
        </p:nvSpPr>
        <p:spPr>
          <a:xfrm>
            <a:off x="6248400" y="4200525"/>
            <a:ext cx="171450" cy="66675"/>
          </a:xfrm>
          <a:prstGeom prst="rightArrow">
            <a:avLst/>
          </a:prstGeom>
          <a:solidFill>
            <a:srgbClr val="4F9EAD"/>
          </a:solidFill>
          <a:ln w="0">
            <a:solidFill>
              <a:srgbClr val="4F9EAD"/>
            </a:solidFill>
            <a:prstDash val="solid"/>
          </a:ln>
        </p:spPr>
      </p:sp>
      <p:sp>
        <p:nvSpPr>
          <p:cNvPr id="41" name="R7-criterion-to-evidence"/>
          <p:cNvSpPr>
            <a:spLocks noGrp="1"/>
          </p:cNvSpPr>
          <p:nvPr/>
        </p:nvSpPr>
        <p:spPr>
          <a:xfrm>
            <a:off x="2000250" y="4819650"/>
            <a:ext cx="171450" cy="76200"/>
          </a:xfrm>
          <a:prstGeom prst="rightArrow">
            <a:avLst/>
          </a:prstGeom>
          <a:solidFill>
            <a:srgbClr val="799FBE"/>
          </a:solidFill>
          <a:ln w="0">
            <a:solidFill>
              <a:srgbClr val="799FBE"/>
            </a:solidFill>
            <a:prstDash val="solid"/>
          </a:ln>
        </p:spPr>
      </p:sp>
      <p:sp>
        <p:nvSpPr>
          <p:cNvPr id="42" name="R7-evidence-to-rule"/>
          <p:cNvSpPr>
            <a:spLocks noGrp="1"/>
          </p:cNvSpPr>
          <p:nvPr/>
        </p:nvSpPr>
        <p:spPr>
          <a:xfrm>
            <a:off x="4314825" y="4824413"/>
            <a:ext cx="76200" cy="66675"/>
          </a:xfrm>
          <a:prstGeom prst="rightArrow">
            <a:avLst/>
          </a:prstGeom>
          <a:solidFill>
            <a:srgbClr val="799FBE"/>
          </a:solidFill>
          <a:ln w="0">
            <a:solidFill>
              <a:srgbClr val="799FBE"/>
            </a:solidFill>
            <a:prstDash val="solid"/>
          </a:ln>
        </p:spPr>
      </p:sp>
      <p:sp>
        <p:nvSpPr>
          <p:cNvPr id="43" name="R7-rule-to-pass"/>
          <p:cNvSpPr>
            <a:spLocks noGrp="1"/>
          </p:cNvSpPr>
          <p:nvPr/>
        </p:nvSpPr>
        <p:spPr>
          <a:xfrm>
            <a:off x="6238875" y="4719638"/>
            <a:ext cx="171450" cy="66675"/>
          </a:xfrm>
          <a:prstGeom prst="rightArrow">
            <a:avLst/>
          </a:prstGeom>
          <a:solidFill>
            <a:srgbClr val="D9781E"/>
          </a:solidFill>
          <a:ln w="0">
            <a:solidFill>
              <a:srgbClr val="D9781E"/>
            </a:solidFill>
            <a:prstDash val="solid"/>
          </a:ln>
        </p:spPr>
      </p:sp>
      <p:sp>
        <p:nvSpPr>
          <p:cNvPr id="44" name="R7-rule-to-fail"/>
          <p:cNvSpPr>
            <a:spLocks noGrp="1"/>
          </p:cNvSpPr>
          <p:nvPr/>
        </p:nvSpPr>
        <p:spPr>
          <a:xfrm>
            <a:off x="6238875" y="4929188"/>
            <a:ext cx="171450" cy="66675"/>
          </a:xfrm>
          <a:prstGeom prst="rightArrow">
            <a:avLst/>
          </a:prstGeom>
          <a:solidFill>
            <a:srgbClr val="D9781E"/>
          </a:solidFill>
          <a:ln w="0">
            <a:solidFill>
              <a:srgbClr val="D9781E"/>
            </a:solidFill>
            <a:prstDash val="solid"/>
          </a:ln>
        </p:spPr>
      </p:sp>
      <p:sp>
        <p:nvSpPr>
          <p:cNvPr id="59" name="R1-criterion-card"/>
          <p:cNvSpPr>
            <a:spLocks noGrp="1"/>
          </p:cNvSpPr>
          <p:nvPr/>
        </p:nvSpPr>
        <p:spPr>
          <a:xfrm>
            <a:off x="454025" y="790575"/>
            <a:ext cx="1504950" cy="590550"/>
          </a:xfrm>
          <a:prstGeom prst="roundRect">
            <a:avLst>
              <a:gd name="adj" fmla="val 9677"/>
            </a:avLst>
          </a:prstGeom>
          <a:solidFill>
            <a:srgbClr val="B4D0E2"/>
          </a:solidFill>
          <a:ln w="0">
            <a:solidFill>
              <a:srgbClr val="B4D0E2"/>
            </a:solidFill>
            <a:prstDash val="solid"/>
          </a:ln>
        </p:spPr>
      </p:sp>
      <p:sp>
        <p:nvSpPr>
          <p:cNvPr id="60" name="R1-title"/>
          <p:cNvSpPr>
            <a:spLocks noGrp="1"/>
          </p:cNvSpPr>
          <p:nvPr/>
        </p:nvSpPr>
        <p:spPr>
          <a:xfrm>
            <a:off x="520700" y="809625"/>
            <a:ext cx="152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390" b="1">
                <a:solidFill>
                  <a:srgbClr val="111111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</a:defRPr>
            </a:pPr>
            <a:r>
              <a:rPr sz="1390" b="1">
                <a:solidFill>
                  <a:srgbClr val="111111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</a:rPr>
              <a:t>R1: Age Agreement</a:t>
            </a:r>
            <a:endParaRPr sz="1390" b="1">
              <a:solidFill>
                <a:srgbClr val="111111"/>
              </a:solidFill>
              <a:latin typeface="Arial Narrow" panose="020B0606020202030204"/>
              <a:ea typeface="Arial Narrow" panose="020B0606020202030204"/>
              <a:cs typeface="Arial Narrow" panose="020B0606020202030204"/>
            </a:endParaRPr>
          </a:p>
        </p:txBody>
      </p:sp>
      <p:sp>
        <p:nvSpPr>
          <p:cNvPr id="61" name="R1-question"/>
          <p:cNvSpPr>
            <a:spLocks noGrp="1"/>
          </p:cNvSpPr>
          <p:nvPr/>
        </p:nvSpPr>
        <p:spPr>
          <a:xfrm>
            <a:off x="520700" y="1028700"/>
            <a:ext cx="15049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1358"/>
          </a:bodyPr>
          <a:lstStyle/>
          <a:p>
            <a:pPr algn="l">
              <a:defRPr sz="1165" b="0">
                <a:solidFill>
                  <a:srgbClr val="111111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</a:defRPr>
            </a:pPr>
            <a:r>
              <a:rPr sz="1165" b="0">
                <a:solidFill>
                  <a:srgbClr val="111111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</a:rPr>
              <a:t>Do rock &amp; mag age</a:t>
            </a:r>
            <a:endParaRPr sz="1165" b="0">
              <a:solidFill>
                <a:srgbClr val="111111"/>
              </a:solidFill>
              <a:latin typeface="Arial Narrow" panose="020B0606020202030204"/>
              <a:ea typeface="Arial Narrow" panose="020B0606020202030204"/>
              <a:cs typeface="Arial Narrow" panose="020B0606020202030204"/>
            </a:endParaRPr>
          </a:p>
          <a:p>
            <a:pPr algn="l">
              <a:defRPr sz="1165" b="0">
                <a:solidFill>
                  <a:srgbClr val="111111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</a:defRPr>
            </a:pPr>
            <a:r>
              <a:rPr sz="1165" b="0">
                <a:solidFill>
                  <a:srgbClr val="111111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</a:rPr>
              <a:t>spans match?</a:t>
            </a:r>
            <a:endParaRPr sz="1165" b="0">
              <a:solidFill>
                <a:srgbClr val="111111"/>
              </a:solidFill>
              <a:latin typeface="Arial Narrow" panose="020B0606020202030204"/>
              <a:ea typeface="Arial Narrow" panose="020B0606020202030204"/>
              <a:cs typeface="Arial Narrow" panose="020B0606020202030204"/>
            </a:endParaRPr>
          </a:p>
        </p:txBody>
      </p:sp>
      <p:sp>
        <p:nvSpPr>
          <p:cNvPr id="64" name="R1-evidence-1"/>
          <p:cNvSpPr>
            <a:spLocks noGrp="1"/>
          </p:cNvSpPr>
          <p:nvPr/>
        </p:nvSpPr>
        <p:spPr>
          <a:xfrm>
            <a:off x="2209800" y="866775"/>
            <a:ext cx="723900" cy="438150"/>
          </a:xfrm>
          <a:prstGeom prst="roundRect">
            <a:avLst>
              <a:gd name="adj" fmla="val 10870"/>
            </a:avLst>
          </a:prstGeom>
          <a:solidFill>
            <a:srgbClr val="B4D0E2"/>
          </a:solidFill>
          <a:ln w="4763">
            <a:solidFill>
              <a:srgbClr val="B4D0E2"/>
            </a:solidFill>
            <a:prstDash val="solid"/>
          </a:ln>
        </p:spPr>
        <p:txBody>
          <a:bodyPr wrap="square" lIns="9525" tIns="9525" rIns="9525" bIns="9525" anchor="ctr">
            <a:normAutofit fontScale="78644"/>
          </a:bodyPr>
          <a:lstStyle/>
          <a:p>
            <a:pPr algn="ctr">
              <a:defRPr sz="1090" b="0">
                <a:solidFill>
                  <a:srgbClr val="111111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</a:defRPr>
            </a:pPr>
            <a:r>
              <a:rPr sz="1090" b="0">
                <a:solidFill>
                  <a:srgbClr val="111111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</a:rPr>
              <a:t>Rock Age</a:t>
            </a:r>
            <a:endParaRPr sz="1090" b="0">
              <a:solidFill>
                <a:srgbClr val="111111"/>
              </a:solidFill>
              <a:latin typeface="Arial Narrow" panose="020B0606020202030204"/>
              <a:ea typeface="Arial Narrow" panose="020B0606020202030204"/>
              <a:cs typeface="Arial Narrow" panose="020B0606020202030204"/>
            </a:endParaRPr>
          </a:p>
          <a:p>
            <a:pPr algn="ctr">
              <a:defRPr sz="1090" b="0">
                <a:solidFill>
                  <a:srgbClr val="111111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</a:defRPr>
            </a:pPr>
            <a:r>
              <a:rPr sz="1090" b="0">
                <a:solidFill>
                  <a:srgbClr val="111111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</a:rPr>
              <a:t>HIGHAGE</a:t>
            </a:r>
            <a:endParaRPr sz="1090" b="0">
              <a:solidFill>
                <a:srgbClr val="111111"/>
              </a:solidFill>
              <a:latin typeface="Arial Narrow" panose="020B0606020202030204"/>
              <a:ea typeface="Arial Narrow" panose="020B0606020202030204"/>
              <a:cs typeface="Arial Narrow" panose="020B0606020202030204"/>
            </a:endParaRPr>
          </a:p>
          <a:p>
            <a:pPr algn="ctr">
              <a:defRPr sz="1090" b="0">
                <a:solidFill>
                  <a:srgbClr val="111111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</a:defRPr>
            </a:pPr>
            <a:r>
              <a:rPr sz="1090" b="0">
                <a:solidFill>
                  <a:srgbClr val="111111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</a:rPr>
              <a:t>LOWAGE</a:t>
            </a:r>
            <a:endParaRPr sz="1090" b="0">
              <a:solidFill>
                <a:srgbClr val="111111"/>
              </a:solidFill>
              <a:latin typeface="Arial Narrow" panose="020B0606020202030204"/>
              <a:ea typeface="Arial Narrow" panose="020B0606020202030204"/>
              <a:cs typeface="Arial Narrow" panose="020B0606020202030204"/>
            </a:endParaRPr>
          </a:p>
        </p:txBody>
      </p:sp>
      <p:sp>
        <p:nvSpPr>
          <p:cNvPr id="65" name="R1-evidence-2"/>
          <p:cNvSpPr>
            <a:spLocks noGrp="1"/>
          </p:cNvSpPr>
          <p:nvPr/>
        </p:nvSpPr>
        <p:spPr>
          <a:xfrm>
            <a:off x="2971800" y="866775"/>
            <a:ext cx="1133475" cy="438150"/>
          </a:xfrm>
          <a:prstGeom prst="roundRect">
            <a:avLst>
              <a:gd name="adj" fmla="val 10870"/>
            </a:avLst>
          </a:prstGeom>
          <a:solidFill>
            <a:srgbClr val="B4D0E2"/>
          </a:solidFill>
          <a:ln w="4763">
            <a:solidFill>
              <a:srgbClr val="B4D0E2"/>
            </a:solidFill>
            <a:prstDash val="solid"/>
          </a:ln>
        </p:spPr>
        <p:txBody>
          <a:bodyPr wrap="square" lIns="9525" tIns="9525" rIns="9525" bIns="9525" anchor="ctr">
            <a:normAutofit fontScale="78644"/>
          </a:bodyPr>
          <a:lstStyle/>
          <a:p>
            <a:pPr algn="ctr">
              <a:defRPr sz="1090" b="0">
                <a:solidFill>
                  <a:srgbClr val="111111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</a:defRPr>
            </a:pPr>
            <a:r>
              <a:rPr sz="1090" b="0">
                <a:solidFill>
                  <a:srgbClr val="111111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</a:rPr>
              <a:t>Magnetization Age</a:t>
            </a:r>
            <a:endParaRPr sz="1090" b="0">
              <a:solidFill>
                <a:srgbClr val="111111"/>
              </a:solidFill>
              <a:latin typeface="Arial Narrow" panose="020B0606020202030204"/>
              <a:ea typeface="Arial Narrow" panose="020B0606020202030204"/>
              <a:cs typeface="Arial Narrow" panose="020B0606020202030204"/>
            </a:endParaRPr>
          </a:p>
          <a:p>
            <a:pPr algn="ctr">
              <a:defRPr sz="1090" b="0">
                <a:solidFill>
                  <a:srgbClr val="111111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</a:defRPr>
            </a:pPr>
            <a:r>
              <a:rPr sz="1090" b="0">
                <a:solidFill>
                  <a:srgbClr val="111111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</a:rPr>
              <a:t>HIMAGAGE</a:t>
            </a:r>
            <a:endParaRPr sz="1090" b="0">
              <a:solidFill>
                <a:srgbClr val="111111"/>
              </a:solidFill>
              <a:latin typeface="Arial Narrow" panose="020B0606020202030204"/>
              <a:ea typeface="Arial Narrow" panose="020B0606020202030204"/>
              <a:cs typeface="Arial Narrow" panose="020B0606020202030204"/>
            </a:endParaRPr>
          </a:p>
          <a:p>
            <a:pPr algn="ctr">
              <a:defRPr sz="1090" b="0">
                <a:solidFill>
                  <a:srgbClr val="111111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</a:defRPr>
            </a:pPr>
            <a:r>
              <a:rPr sz="1090" b="0">
                <a:solidFill>
                  <a:srgbClr val="111111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</a:rPr>
              <a:t>LOMAGAGE</a:t>
            </a:r>
            <a:endParaRPr sz="1090" b="0">
              <a:solidFill>
                <a:srgbClr val="111111"/>
              </a:solidFill>
              <a:latin typeface="Arial Narrow" panose="020B0606020202030204"/>
              <a:ea typeface="Arial Narrow" panose="020B0606020202030204"/>
              <a:cs typeface="Arial Narrow" panose="020B0606020202030204"/>
            </a:endParaRPr>
          </a:p>
        </p:txBody>
      </p:sp>
      <p:sp>
        <p:nvSpPr>
          <p:cNvPr id="66" name="R1-condition"/>
          <p:cNvSpPr>
            <a:spLocks noGrp="1"/>
          </p:cNvSpPr>
          <p:nvPr/>
        </p:nvSpPr>
        <p:spPr>
          <a:xfrm>
            <a:off x="4191000" y="838200"/>
            <a:ext cx="20764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" tIns="0" rIns="9525" bIns="0" anchor="ctr">
            <a:normAutofit/>
          </a:bodyPr>
          <a:lstStyle/>
          <a:p>
            <a:pPr algn="ctr">
              <a:defRPr sz="1065" b="0">
                <a:solidFill>
                  <a:srgbClr val="111111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</a:defRPr>
            </a:pPr>
            <a:r>
              <a:rPr sz="1065" b="0">
                <a:solidFill>
                  <a:srgbClr val="111111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</a:rPr>
              <a:t>Rule:</a:t>
            </a:r>
            <a:endParaRPr sz="1065" b="0">
              <a:solidFill>
                <a:srgbClr val="111111"/>
              </a:solidFill>
              <a:latin typeface="Arial Narrow" panose="020B0606020202030204"/>
              <a:ea typeface="Arial Narrow" panose="020B0606020202030204"/>
              <a:cs typeface="Arial Narrow" panose="020B0606020202030204"/>
            </a:endParaRPr>
          </a:p>
          <a:p>
            <a:pPr algn="ctr">
              <a:defRPr sz="1065" b="0">
                <a:solidFill>
                  <a:srgbClr val="111111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</a:defRPr>
            </a:pPr>
            <a:r>
              <a:rPr sz="1065" b="0">
                <a:solidFill>
                  <a:srgbClr val="111111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</a:rPr>
              <a:t>Span = |Magnetization Age Span -</a:t>
            </a:r>
            <a:endParaRPr sz="1065" b="0">
              <a:solidFill>
                <a:srgbClr val="111111"/>
              </a:solidFill>
              <a:latin typeface="Arial Narrow" panose="020B0606020202030204"/>
              <a:ea typeface="Arial Narrow" panose="020B0606020202030204"/>
              <a:cs typeface="Arial Narrow" panose="020B0606020202030204"/>
            </a:endParaRPr>
          </a:p>
          <a:p>
            <a:pPr algn="ctr">
              <a:defRPr sz="1065" b="0">
                <a:solidFill>
                  <a:srgbClr val="111111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</a:defRPr>
            </a:pPr>
            <a:r>
              <a:rPr sz="1065" b="0">
                <a:solidFill>
                  <a:srgbClr val="111111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</a:rPr>
              <a:t>Rock Age Span| ≤ 15 Myr</a:t>
            </a:r>
            <a:endParaRPr sz="1065" b="0">
              <a:solidFill>
                <a:srgbClr val="111111"/>
              </a:solidFill>
              <a:latin typeface="Arial Narrow" panose="020B0606020202030204"/>
              <a:ea typeface="Arial Narrow" panose="020B0606020202030204"/>
              <a:cs typeface="Arial Narrow" panose="020B0606020202030204"/>
            </a:endParaRPr>
          </a:p>
        </p:txBody>
      </p:sp>
      <p:sp>
        <p:nvSpPr>
          <p:cNvPr id="67" name="R1-pass"/>
          <p:cNvSpPr>
            <a:spLocks noGrp="1"/>
          </p:cNvSpPr>
          <p:nvPr/>
        </p:nvSpPr>
        <p:spPr>
          <a:xfrm>
            <a:off x="6429375" y="838200"/>
            <a:ext cx="5524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240" b="0">
                <a:solidFill>
                  <a:srgbClr val="111111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</a:defRPr>
            </a:pPr>
            <a:r>
              <a:rPr sz="1240" b="0">
                <a:solidFill>
                  <a:srgbClr val="111111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</a:rPr>
              <a:t>Pass→1</a:t>
            </a:r>
            <a:endParaRPr sz="1240" b="0">
              <a:solidFill>
                <a:srgbClr val="111111"/>
              </a:solidFill>
              <a:latin typeface="Arial Narrow" panose="020B0606020202030204"/>
              <a:ea typeface="Arial Narrow" panose="020B0606020202030204"/>
              <a:cs typeface="Arial Narrow" panose="020B0606020202030204"/>
            </a:endParaRPr>
          </a:p>
        </p:txBody>
      </p:sp>
      <p:sp>
        <p:nvSpPr>
          <p:cNvPr id="68" name="R1-fail"/>
          <p:cNvSpPr>
            <a:spLocks noGrp="1"/>
          </p:cNvSpPr>
          <p:nvPr/>
        </p:nvSpPr>
        <p:spPr>
          <a:xfrm>
            <a:off x="6429375" y="1076325"/>
            <a:ext cx="5524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240" b="0">
                <a:solidFill>
                  <a:srgbClr val="111111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</a:defRPr>
            </a:pPr>
            <a:r>
              <a:rPr sz="1240" b="0">
                <a:solidFill>
                  <a:srgbClr val="111111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</a:rPr>
              <a:t>Fail→0</a:t>
            </a:r>
            <a:endParaRPr sz="1240" b="0">
              <a:solidFill>
                <a:srgbClr val="111111"/>
              </a:solidFill>
              <a:latin typeface="Arial Narrow" panose="020B0606020202030204"/>
              <a:ea typeface="Arial Narrow" panose="020B0606020202030204"/>
              <a:cs typeface="Arial Narrow" panose="020B0606020202030204"/>
            </a:endParaRPr>
          </a:p>
        </p:txBody>
      </p:sp>
      <p:sp>
        <p:nvSpPr>
          <p:cNvPr id="69" name="R2-criterion-card"/>
          <p:cNvSpPr>
            <a:spLocks noGrp="1"/>
          </p:cNvSpPr>
          <p:nvPr/>
        </p:nvSpPr>
        <p:spPr>
          <a:xfrm>
            <a:off x="454025" y="1428750"/>
            <a:ext cx="1504950" cy="581025"/>
          </a:xfrm>
          <a:prstGeom prst="roundRect">
            <a:avLst>
              <a:gd name="adj" fmla="val 9836"/>
            </a:avLst>
          </a:prstGeom>
          <a:solidFill>
            <a:srgbClr val="9FC9D8"/>
          </a:solidFill>
          <a:ln w="0">
            <a:solidFill>
              <a:srgbClr val="9FC9D8"/>
            </a:solidFill>
            <a:prstDash val="solid"/>
          </a:ln>
        </p:spPr>
      </p:sp>
      <p:sp>
        <p:nvSpPr>
          <p:cNvPr id="70" name="R2-title"/>
          <p:cNvSpPr>
            <a:spLocks noGrp="1"/>
          </p:cNvSpPr>
          <p:nvPr/>
        </p:nvSpPr>
        <p:spPr>
          <a:xfrm>
            <a:off x="520700" y="1447800"/>
            <a:ext cx="152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390" b="1">
                <a:solidFill>
                  <a:srgbClr val="111111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</a:defRPr>
            </a:pPr>
            <a:r>
              <a:rPr sz="1390" b="1">
                <a:solidFill>
                  <a:srgbClr val="111111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</a:rPr>
              <a:t>R2: Data Adequacy</a:t>
            </a:r>
            <a:endParaRPr sz="1390" b="1">
              <a:solidFill>
                <a:srgbClr val="111111"/>
              </a:solidFill>
              <a:latin typeface="Arial Narrow" panose="020B0606020202030204"/>
              <a:ea typeface="Arial Narrow" panose="020B0606020202030204"/>
              <a:cs typeface="Arial Narrow" panose="020B0606020202030204"/>
            </a:endParaRPr>
          </a:p>
        </p:txBody>
      </p:sp>
      <p:sp>
        <p:nvSpPr>
          <p:cNvPr id="71" name="R2-question"/>
          <p:cNvSpPr>
            <a:spLocks noGrp="1"/>
          </p:cNvSpPr>
          <p:nvPr/>
        </p:nvSpPr>
        <p:spPr>
          <a:xfrm>
            <a:off x="520700" y="1666875"/>
            <a:ext cx="15049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1358"/>
          </a:bodyPr>
          <a:lstStyle/>
          <a:p>
            <a:pPr algn="l">
              <a:defRPr sz="1165" b="0">
                <a:solidFill>
                  <a:srgbClr val="111111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</a:defRPr>
            </a:pPr>
            <a:r>
              <a:rPr sz="1165" b="0">
                <a:solidFill>
                  <a:srgbClr val="111111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</a:rPr>
              <a:t>Are data quality and</a:t>
            </a:r>
            <a:endParaRPr sz="1165" b="0">
              <a:solidFill>
                <a:srgbClr val="111111"/>
              </a:solidFill>
              <a:latin typeface="Arial Narrow" panose="020B0606020202030204"/>
              <a:ea typeface="Arial Narrow" panose="020B0606020202030204"/>
              <a:cs typeface="Arial Narrow" panose="020B0606020202030204"/>
            </a:endParaRPr>
          </a:p>
          <a:p>
            <a:pPr algn="l">
              <a:defRPr sz="1165" b="0">
                <a:solidFill>
                  <a:srgbClr val="111111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</a:defRPr>
            </a:pPr>
            <a:r>
              <a:rPr sz="1165" b="0">
                <a:solidFill>
                  <a:srgbClr val="111111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</a:rPr>
              <a:t>quantities sufficient?</a:t>
            </a:r>
            <a:endParaRPr sz="1165" b="0">
              <a:solidFill>
                <a:srgbClr val="111111"/>
              </a:solidFill>
              <a:latin typeface="Arial Narrow" panose="020B0606020202030204"/>
              <a:ea typeface="Arial Narrow" panose="020B0606020202030204"/>
              <a:cs typeface="Arial Narrow" panose="020B0606020202030204"/>
            </a:endParaRPr>
          </a:p>
        </p:txBody>
      </p:sp>
      <p:sp>
        <p:nvSpPr>
          <p:cNvPr id="73" name="R2-evidence-1"/>
          <p:cNvSpPr>
            <a:spLocks noGrp="1"/>
          </p:cNvSpPr>
          <p:nvPr/>
        </p:nvSpPr>
        <p:spPr>
          <a:xfrm>
            <a:off x="2200275" y="1504950"/>
            <a:ext cx="400050" cy="428625"/>
          </a:xfrm>
          <a:prstGeom prst="roundRect">
            <a:avLst>
              <a:gd name="adj" fmla="val 11905"/>
            </a:avLst>
          </a:prstGeom>
          <a:solidFill>
            <a:srgbClr val="9FC9D8"/>
          </a:solidFill>
          <a:ln w="4763">
            <a:solidFill>
              <a:srgbClr val="9FC9D8"/>
            </a:solidFill>
            <a:prstDash val="solid"/>
          </a:ln>
        </p:spPr>
        <p:txBody>
          <a:bodyPr wrap="square" lIns="9525" tIns="9525" rIns="9525" bIns="9525" anchor="ctr">
            <a:normAutofit/>
          </a:bodyPr>
          <a:lstStyle/>
          <a:p>
            <a:pPr algn="ctr">
              <a:defRPr sz="1090" b="0">
                <a:solidFill>
                  <a:srgbClr val="111111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</a:defRPr>
            </a:pPr>
            <a:r>
              <a:rPr sz="1090" b="0">
                <a:solidFill>
                  <a:srgbClr val="111111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</a:rPr>
              <a:t>Sites</a:t>
            </a:r>
            <a:endParaRPr sz="1090" b="0">
              <a:solidFill>
                <a:srgbClr val="111111"/>
              </a:solidFill>
              <a:latin typeface="Arial Narrow" panose="020B0606020202030204"/>
              <a:ea typeface="Arial Narrow" panose="020B0606020202030204"/>
              <a:cs typeface="Arial Narrow" panose="020B0606020202030204"/>
            </a:endParaRPr>
          </a:p>
          <a:p>
            <a:pPr algn="ctr">
              <a:defRPr sz="1090" b="0">
                <a:solidFill>
                  <a:srgbClr val="111111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</a:defRPr>
            </a:pPr>
            <a:r>
              <a:rPr sz="1090" b="0">
                <a:solidFill>
                  <a:srgbClr val="111111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</a:rPr>
              <a:t>B</a:t>
            </a:r>
            <a:endParaRPr sz="1090" b="0">
              <a:solidFill>
                <a:srgbClr val="111111"/>
              </a:solidFill>
              <a:latin typeface="Arial Narrow" panose="020B0606020202030204"/>
              <a:ea typeface="Arial Narrow" panose="020B0606020202030204"/>
              <a:cs typeface="Arial Narrow" panose="020B0606020202030204"/>
            </a:endParaRPr>
          </a:p>
        </p:txBody>
      </p:sp>
      <p:sp>
        <p:nvSpPr>
          <p:cNvPr id="74" name="R2-evidence-2"/>
          <p:cNvSpPr>
            <a:spLocks noGrp="1"/>
          </p:cNvSpPr>
          <p:nvPr/>
        </p:nvSpPr>
        <p:spPr>
          <a:xfrm>
            <a:off x="2638425" y="1504950"/>
            <a:ext cx="552450" cy="428625"/>
          </a:xfrm>
          <a:prstGeom prst="roundRect">
            <a:avLst>
              <a:gd name="adj" fmla="val 11111"/>
            </a:avLst>
          </a:prstGeom>
          <a:solidFill>
            <a:srgbClr val="9FC9D8"/>
          </a:solidFill>
          <a:ln w="4763">
            <a:solidFill>
              <a:srgbClr val="9FC9D8"/>
            </a:solidFill>
            <a:prstDash val="solid"/>
          </a:ln>
        </p:spPr>
        <p:txBody>
          <a:bodyPr wrap="square" lIns="9525" tIns="9525" rIns="9525" bIns="9525" anchor="ctr">
            <a:normAutofit/>
          </a:bodyPr>
          <a:lstStyle/>
          <a:p>
            <a:pPr algn="ctr">
              <a:defRPr sz="1090" b="0">
                <a:solidFill>
                  <a:srgbClr val="111111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</a:defRPr>
            </a:pPr>
            <a:r>
              <a:rPr sz="1090" b="0">
                <a:solidFill>
                  <a:srgbClr val="111111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</a:rPr>
              <a:t>Samples</a:t>
            </a:r>
            <a:endParaRPr sz="1090" b="0">
              <a:solidFill>
                <a:srgbClr val="111111"/>
              </a:solidFill>
              <a:latin typeface="Arial Narrow" panose="020B0606020202030204"/>
              <a:ea typeface="Arial Narrow" panose="020B0606020202030204"/>
              <a:cs typeface="Arial Narrow" panose="020B0606020202030204"/>
            </a:endParaRPr>
          </a:p>
          <a:p>
            <a:pPr algn="ctr">
              <a:defRPr sz="1090" b="0">
                <a:solidFill>
                  <a:srgbClr val="111111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</a:defRPr>
            </a:pPr>
            <a:r>
              <a:rPr sz="1090" b="0">
                <a:solidFill>
                  <a:srgbClr val="111111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</a:rPr>
              <a:t>N</a:t>
            </a:r>
            <a:endParaRPr sz="1090" b="0">
              <a:solidFill>
                <a:srgbClr val="111111"/>
              </a:solidFill>
              <a:latin typeface="Arial Narrow" panose="020B0606020202030204"/>
              <a:ea typeface="Arial Narrow" panose="020B0606020202030204"/>
              <a:cs typeface="Arial Narrow" panose="020B0606020202030204"/>
            </a:endParaRPr>
          </a:p>
        </p:txBody>
      </p:sp>
      <p:sp>
        <p:nvSpPr>
          <p:cNvPr id="75" name="R2-evidence-3"/>
          <p:cNvSpPr>
            <a:spLocks noGrp="1"/>
          </p:cNvSpPr>
          <p:nvPr/>
        </p:nvSpPr>
        <p:spPr>
          <a:xfrm>
            <a:off x="3228975" y="1504950"/>
            <a:ext cx="619125" cy="428625"/>
          </a:xfrm>
          <a:prstGeom prst="roundRect">
            <a:avLst>
              <a:gd name="adj" fmla="val 11111"/>
            </a:avLst>
          </a:prstGeom>
          <a:solidFill>
            <a:srgbClr val="9FC9D8"/>
          </a:solidFill>
          <a:ln w="4763">
            <a:solidFill>
              <a:srgbClr val="9FC9D8"/>
            </a:solidFill>
            <a:prstDash val="solid"/>
          </a:ln>
        </p:spPr>
        <p:txBody>
          <a:bodyPr wrap="square" lIns="9525" tIns="9525" rIns="9525" bIns="9525" anchor="ctr">
            <a:normAutofit/>
          </a:bodyPr>
          <a:lstStyle/>
          <a:p>
            <a:pPr algn="ctr">
              <a:defRPr sz="1090" b="0">
                <a:solidFill>
                  <a:srgbClr val="111111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</a:defRPr>
            </a:pPr>
            <a:r>
              <a:rPr sz="1090" b="0">
                <a:solidFill>
                  <a:srgbClr val="111111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</a:rPr>
              <a:t>Precision</a:t>
            </a:r>
            <a:endParaRPr sz="1090" b="0">
              <a:solidFill>
                <a:srgbClr val="111111"/>
              </a:solidFill>
              <a:latin typeface="Arial Narrow" panose="020B0606020202030204"/>
              <a:ea typeface="Arial Narrow" panose="020B0606020202030204"/>
              <a:cs typeface="Arial Narrow" panose="020B0606020202030204"/>
            </a:endParaRPr>
          </a:p>
          <a:p>
            <a:pPr algn="ctr">
              <a:defRPr sz="1090" b="0">
                <a:solidFill>
                  <a:srgbClr val="111111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</a:defRPr>
            </a:pPr>
            <a:r>
              <a:rPr sz="1090" b="0">
                <a:solidFill>
                  <a:srgbClr val="111111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</a:rPr>
              <a:t>KD</a:t>
            </a:r>
            <a:endParaRPr sz="1090" b="0">
              <a:solidFill>
                <a:srgbClr val="111111"/>
              </a:solidFill>
              <a:latin typeface="Arial Narrow" panose="020B0606020202030204"/>
              <a:ea typeface="Arial Narrow" panose="020B0606020202030204"/>
              <a:cs typeface="Arial Narrow" panose="020B0606020202030204"/>
            </a:endParaRPr>
          </a:p>
        </p:txBody>
      </p:sp>
      <p:sp>
        <p:nvSpPr>
          <p:cNvPr id="76" name="R2-evidence-4"/>
          <p:cNvSpPr>
            <a:spLocks noGrp="1"/>
          </p:cNvSpPr>
          <p:nvPr/>
        </p:nvSpPr>
        <p:spPr>
          <a:xfrm>
            <a:off x="3886200" y="1504950"/>
            <a:ext cx="733425" cy="428625"/>
          </a:xfrm>
          <a:prstGeom prst="roundRect">
            <a:avLst>
              <a:gd name="adj" fmla="val 11111"/>
            </a:avLst>
          </a:prstGeom>
          <a:solidFill>
            <a:srgbClr val="9FC9D8"/>
          </a:solidFill>
          <a:ln w="4763">
            <a:solidFill>
              <a:srgbClr val="9FC9D8"/>
            </a:solidFill>
            <a:prstDash val="solid"/>
          </a:ln>
        </p:spPr>
        <p:txBody>
          <a:bodyPr wrap="square" lIns="9525" tIns="9525" rIns="9525" bIns="9525" anchor="ctr">
            <a:normAutofit/>
          </a:bodyPr>
          <a:lstStyle/>
          <a:p>
            <a:pPr algn="ctr">
              <a:defRPr sz="1090" b="0">
                <a:solidFill>
                  <a:srgbClr val="111111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</a:defRPr>
            </a:pPr>
            <a:r>
              <a:rPr sz="1090" b="0">
                <a:solidFill>
                  <a:srgbClr val="111111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</a:rPr>
              <a:t>Uncertainty</a:t>
            </a:r>
            <a:endParaRPr sz="1090" b="0">
              <a:solidFill>
                <a:srgbClr val="111111"/>
              </a:solidFill>
              <a:latin typeface="Arial Narrow" panose="020B0606020202030204"/>
              <a:ea typeface="Arial Narrow" panose="020B0606020202030204"/>
              <a:cs typeface="Arial Narrow" panose="020B0606020202030204"/>
            </a:endParaRPr>
          </a:p>
          <a:p>
            <a:pPr algn="ctr">
              <a:defRPr sz="1090" b="0">
                <a:solidFill>
                  <a:srgbClr val="111111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</a:defRPr>
            </a:pPr>
            <a:r>
              <a:rPr sz="1090" b="0">
                <a:solidFill>
                  <a:srgbClr val="111111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</a:rPr>
              <a:t>ED95</a:t>
            </a:r>
            <a:endParaRPr sz="1090" b="0">
              <a:solidFill>
                <a:srgbClr val="111111"/>
              </a:solidFill>
              <a:latin typeface="Arial Narrow" panose="020B0606020202030204"/>
              <a:ea typeface="Arial Narrow" panose="020B0606020202030204"/>
              <a:cs typeface="Arial Narrow" panose="020B0606020202030204"/>
            </a:endParaRPr>
          </a:p>
        </p:txBody>
      </p:sp>
      <p:sp>
        <p:nvSpPr>
          <p:cNvPr id="77" name="R2-condition"/>
          <p:cNvSpPr>
            <a:spLocks noGrp="1"/>
          </p:cNvSpPr>
          <p:nvPr/>
        </p:nvSpPr>
        <p:spPr>
          <a:xfrm>
            <a:off x="4676775" y="1476375"/>
            <a:ext cx="1581150" cy="485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" tIns="0" rIns="9525" bIns="0" anchor="ctr">
            <a:normAutofit fontScale="74824"/>
          </a:bodyPr>
          <a:lstStyle/>
          <a:p>
            <a:pPr algn="ctr">
              <a:defRPr sz="1065" b="0">
                <a:solidFill>
                  <a:srgbClr val="111111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</a:defRPr>
            </a:pPr>
            <a:r>
              <a:rPr sz="1065" b="0">
                <a:solidFill>
                  <a:srgbClr val="111111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</a:rPr>
              <a:t>5 criteria</a:t>
            </a:r>
            <a:endParaRPr sz="1065" b="0">
              <a:solidFill>
                <a:srgbClr val="111111"/>
              </a:solidFill>
              <a:latin typeface="Arial Narrow" panose="020B0606020202030204"/>
              <a:ea typeface="Arial Narrow" panose="020B0606020202030204"/>
              <a:cs typeface="Arial Narrow" panose="020B0606020202030204"/>
            </a:endParaRPr>
          </a:p>
          <a:p>
            <a:pPr algn="ctr">
              <a:defRPr sz="1065" b="0">
                <a:solidFill>
                  <a:srgbClr val="111111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</a:defRPr>
            </a:pPr>
            <a:r>
              <a:rPr sz="1065" b="0">
                <a:solidFill>
                  <a:srgbClr val="111111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</a:rPr>
              <a:t>B≥8, N≥25, 10≤KD≤70,</a:t>
            </a:r>
            <a:endParaRPr sz="1065" b="0">
              <a:solidFill>
                <a:srgbClr val="111111"/>
              </a:solidFill>
              <a:latin typeface="Arial Narrow" panose="020B0606020202030204"/>
              <a:ea typeface="Arial Narrow" panose="020B0606020202030204"/>
              <a:cs typeface="Arial Narrow" panose="020B0606020202030204"/>
            </a:endParaRPr>
          </a:p>
          <a:p>
            <a:pPr algn="ctr">
              <a:defRPr sz="1065" b="0">
                <a:solidFill>
                  <a:srgbClr val="111111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</a:defRPr>
            </a:pPr>
            <a:r>
              <a:rPr sz="1065" b="0">
                <a:solidFill>
                  <a:srgbClr val="111111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</a:rPr>
              <a:t>ED95≤16°, DEMAGCODE≥3</a:t>
            </a:r>
            <a:endParaRPr sz="1065" b="0">
              <a:solidFill>
                <a:srgbClr val="111111"/>
              </a:solidFill>
              <a:latin typeface="Arial Narrow" panose="020B0606020202030204"/>
              <a:ea typeface="Arial Narrow" panose="020B0606020202030204"/>
              <a:cs typeface="Arial Narrow" panose="020B0606020202030204"/>
            </a:endParaRPr>
          </a:p>
          <a:p>
            <a:pPr algn="ctr">
              <a:defRPr sz="1065" b="0">
                <a:solidFill>
                  <a:srgbClr val="111111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</a:defRPr>
            </a:pPr>
            <a:r>
              <a:rPr sz="1065" b="0">
                <a:solidFill>
                  <a:srgbClr val="111111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</a:rPr>
              <a:t>Must pass all</a:t>
            </a:r>
            <a:endParaRPr sz="1065" b="0">
              <a:solidFill>
                <a:srgbClr val="111111"/>
              </a:solidFill>
              <a:latin typeface="Arial Narrow" panose="020B0606020202030204"/>
              <a:ea typeface="Arial Narrow" panose="020B0606020202030204"/>
              <a:cs typeface="Arial Narrow" panose="020B0606020202030204"/>
            </a:endParaRPr>
          </a:p>
        </p:txBody>
      </p:sp>
      <p:sp>
        <p:nvSpPr>
          <p:cNvPr id="78" name="R2-pass"/>
          <p:cNvSpPr>
            <a:spLocks noGrp="1"/>
          </p:cNvSpPr>
          <p:nvPr/>
        </p:nvSpPr>
        <p:spPr>
          <a:xfrm>
            <a:off x="6429375" y="1476375"/>
            <a:ext cx="5524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240" b="0">
                <a:solidFill>
                  <a:srgbClr val="111111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</a:defRPr>
            </a:pPr>
            <a:r>
              <a:rPr sz="1240" b="0">
                <a:solidFill>
                  <a:srgbClr val="111111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</a:rPr>
              <a:t>Pass→1</a:t>
            </a:r>
            <a:endParaRPr sz="1240" b="0">
              <a:solidFill>
                <a:srgbClr val="111111"/>
              </a:solidFill>
              <a:latin typeface="Arial Narrow" panose="020B0606020202030204"/>
              <a:ea typeface="Arial Narrow" panose="020B0606020202030204"/>
              <a:cs typeface="Arial Narrow" panose="020B0606020202030204"/>
            </a:endParaRPr>
          </a:p>
        </p:txBody>
      </p:sp>
      <p:sp>
        <p:nvSpPr>
          <p:cNvPr id="79" name="R2-fail"/>
          <p:cNvSpPr>
            <a:spLocks noGrp="1"/>
          </p:cNvSpPr>
          <p:nvPr/>
        </p:nvSpPr>
        <p:spPr>
          <a:xfrm>
            <a:off x="6429375" y="1714500"/>
            <a:ext cx="5524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240" b="0">
                <a:solidFill>
                  <a:srgbClr val="111111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</a:defRPr>
            </a:pPr>
            <a:r>
              <a:rPr sz="1240" b="0">
                <a:solidFill>
                  <a:srgbClr val="111111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</a:rPr>
              <a:t>Fail→0</a:t>
            </a:r>
            <a:endParaRPr sz="1240" b="0">
              <a:solidFill>
                <a:srgbClr val="111111"/>
              </a:solidFill>
              <a:latin typeface="Arial Narrow" panose="020B0606020202030204"/>
              <a:ea typeface="Arial Narrow" panose="020B0606020202030204"/>
              <a:cs typeface="Arial Narrow" panose="020B0606020202030204"/>
            </a:endParaRPr>
          </a:p>
        </p:txBody>
      </p:sp>
      <p:sp>
        <p:nvSpPr>
          <p:cNvPr id="80" name="R3-criterion-card"/>
          <p:cNvSpPr>
            <a:spLocks noGrp="1"/>
          </p:cNvSpPr>
          <p:nvPr/>
        </p:nvSpPr>
        <p:spPr>
          <a:xfrm>
            <a:off x="454025" y="2057400"/>
            <a:ext cx="1505585" cy="581025"/>
          </a:xfrm>
          <a:prstGeom prst="roundRect">
            <a:avLst>
              <a:gd name="adj" fmla="val 9836"/>
            </a:avLst>
          </a:prstGeom>
          <a:solidFill>
            <a:srgbClr val="91CCC3"/>
          </a:solidFill>
          <a:ln w="0">
            <a:solidFill>
              <a:srgbClr val="91CCC3"/>
            </a:solidFill>
            <a:prstDash val="solid"/>
          </a:ln>
        </p:spPr>
      </p:sp>
      <p:sp>
        <p:nvSpPr>
          <p:cNvPr id="81" name="R3-title"/>
          <p:cNvSpPr>
            <a:spLocks noGrp="1"/>
          </p:cNvSpPr>
          <p:nvPr/>
        </p:nvSpPr>
        <p:spPr>
          <a:xfrm>
            <a:off x="520700" y="2076450"/>
            <a:ext cx="152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/>
          <a:p>
            <a:pPr algn="l">
              <a:defRPr sz="1390" b="1">
                <a:solidFill>
                  <a:srgbClr val="111111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</a:defRPr>
            </a:pPr>
            <a:r>
              <a:rPr sz="1200" b="1">
                <a:solidFill>
                  <a:srgbClr val="111111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</a:rPr>
              <a:t>R3: Magnetic Carrier</a:t>
            </a:r>
            <a:endParaRPr sz="1200" b="1">
              <a:solidFill>
                <a:srgbClr val="111111"/>
              </a:solidFill>
              <a:latin typeface="Arial Narrow" panose="020B0606020202030204"/>
              <a:ea typeface="Arial Narrow" panose="020B0606020202030204"/>
              <a:cs typeface="Arial Narrow" panose="020B0606020202030204"/>
            </a:endParaRPr>
          </a:p>
        </p:txBody>
      </p:sp>
      <p:sp>
        <p:nvSpPr>
          <p:cNvPr id="82" name="R3-question"/>
          <p:cNvSpPr>
            <a:spLocks noGrp="1"/>
          </p:cNvSpPr>
          <p:nvPr/>
        </p:nvSpPr>
        <p:spPr>
          <a:xfrm>
            <a:off x="520700" y="2295525"/>
            <a:ext cx="15049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1358"/>
          </a:bodyPr>
          <a:lstStyle/>
          <a:p>
            <a:pPr algn="l">
              <a:defRPr sz="1165" b="0">
                <a:solidFill>
                  <a:srgbClr val="111111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</a:defRPr>
            </a:pPr>
            <a:r>
              <a:rPr sz="1165" b="0">
                <a:solidFill>
                  <a:srgbClr val="111111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</a:rPr>
              <a:t>Is signal carrier identified</a:t>
            </a:r>
            <a:endParaRPr sz="1165" b="0">
              <a:solidFill>
                <a:srgbClr val="111111"/>
              </a:solidFill>
              <a:latin typeface="Arial Narrow" panose="020B0606020202030204"/>
              <a:ea typeface="Arial Narrow" panose="020B0606020202030204"/>
              <a:cs typeface="Arial Narrow" panose="020B0606020202030204"/>
            </a:endParaRPr>
          </a:p>
          <a:p>
            <a:pPr algn="l">
              <a:defRPr sz="1165" b="0">
                <a:solidFill>
                  <a:srgbClr val="111111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</a:defRPr>
            </a:pPr>
            <a:r>
              <a:rPr sz="1165" b="0">
                <a:solidFill>
                  <a:srgbClr val="111111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</a:rPr>
              <a:t>and interpreted?</a:t>
            </a:r>
            <a:endParaRPr sz="1165" b="0">
              <a:solidFill>
                <a:srgbClr val="111111"/>
              </a:solidFill>
              <a:latin typeface="Arial Narrow" panose="020B0606020202030204"/>
              <a:ea typeface="Arial Narrow" panose="020B0606020202030204"/>
              <a:cs typeface="Arial Narrow" panose="020B0606020202030204"/>
            </a:endParaRPr>
          </a:p>
        </p:txBody>
      </p:sp>
      <p:sp>
        <p:nvSpPr>
          <p:cNvPr id="84" name="R3-evidence-1"/>
          <p:cNvSpPr>
            <a:spLocks noGrp="1"/>
          </p:cNvSpPr>
          <p:nvPr/>
        </p:nvSpPr>
        <p:spPr>
          <a:xfrm>
            <a:off x="2200275" y="2133600"/>
            <a:ext cx="742950" cy="428625"/>
          </a:xfrm>
          <a:prstGeom prst="roundRect">
            <a:avLst>
              <a:gd name="adj" fmla="val 11111"/>
            </a:avLst>
          </a:prstGeom>
          <a:solidFill>
            <a:srgbClr val="91CCC3"/>
          </a:solidFill>
          <a:ln w="4763">
            <a:solidFill>
              <a:srgbClr val="91CCC3"/>
            </a:solidFill>
            <a:prstDash val="solid"/>
          </a:ln>
        </p:spPr>
        <p:txBody>
          <a:bodyPr wrap="square" lIns="9525" tIns="9525" rIns="9525" bIns="9525" anchor="ctr">
            <a:normAutofit/>
          </a:bodyPr>
          <a:lstStyle/>
          <a:p>
            <a:pPr algn="ctr">
              <a:defRPr sz="1090" b="0">
                <a:solidFill>
                  <a:srgbClr val="111111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</a:defRPr>
            </a:pPr>
            <a:r>
              <a:rPr sz="1090" b="0">
                <a:solidFill>
                  <a:srgbClr val="111111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</a:rPr>
              <a:t>Investigation</a:t>
            </a:r>
            <a:endParaRPr sz="1090" b="0">
              <a:solidFill>
                <a:srgbClr val="111111"/>
              </a:solidFill>
              <a:latin typeface="Arial Narrow" panose="020B0606020202030204"/>
              <a:ea typeface="Arial Narrow" panose="020B0606020202030204"/>
              <a:cs typeface="Arial Narrow" panose="020B0606020202030204"/>
            </a:endParaRPr>
          </a:p>
          <a:p>
            <a:pPr algn="ctr">
              <a:defRPr sz="1090" b="0">
                <a:solidFill>
                  <a:srgbClr val="111111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</a:defRPr>
            </a:pPr>
            <a:r>
              <a:rPr sz="1090" b="0">
                <a:solidFill>
                  <a:srgbClr val="111111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</a:rPr>
              <a:t>Method</a:t>
            </a:r>
            <a:endParaRPr sz="1090" b="0">
              <a:solidFill>
                <a:srgbClr val="111111"/>
              </a:solidFill>
              <a:latin typeface="Arial Narrow" panose="020B0606020202030204"/>
              <a:ea typeface="Arial Narrow" panose="020B0606020202030204"/>
              <a:cs typeface="Arial Narrow" panose="020B0606020202030204"/>
            </a:endParaRPr>
          </a:p>
        </p:txBody>
      </p:sp>
      <p:sp>
        <p:nvSpPr>
          <p:cNvPr id="85" name="R3-evidence-2"/>
          <p:cNvSpPr>
            <a:spLocks noGrp="1"/>
          </p:cNvSpPr>
          <p:nvPr/>
        </p:nvSpPr>
        <p:spPr>
          <a:xfrm>
            <a:off x="2981325" y="2133600"/>
            <a:ext cx="762000" cy="428625"/>
          </a:xfrm>
          <a:prstGeom prst="roundRect">
            <a:avLst>
              <a:gd name="adj" fmla="val 11111"/>
            </a:avLst>
          </a:prstGeom>
          <a:solidFill>
            <a:srgbClr val="91CCC3"/>
          </a:solidFill>
          <a:ln w="4763">
            <a:solidFill>
              <a:srgbClr val="91CCC3"/>
            </a:solidFill>
            <a:prstDash val="solid"/>
          </a:ln>
        </p:spPr>
        <p:txBody>
          <a:bodyPr wrap="square" lIns="9525" tIns="9525" rIns="9525" bIns="9525" anchor="ctr">
            <a:normAutofit/>
          </a:bodyPr>
          <a:lstStyle/>
          <a:p>
            <a:pPr algn="ctr">
              <a:defRPr sz="1090" b="0">
                <a:solidFill>
                  <a:srgbClr val="111111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</a:defRPr>
            </a:pPr>
            <a:r>
              <a:rPr sz="1090" b="0">
                <a:solidFill>
                  <a:srgbClr val="111111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</a:rPr>
              <a:t>Carrier</a:t>
            </a:r>
            <a:endParaRPr sz="1090" b="0">
              <a:solidFill>
                <a:srgbClr val="111111"/>
              </a:solidFill>
              <a:latin typeface="Arial Narrow" panose="020B0606020202030204"/>
              <a:ea typeface="Arial Narrow" panose="020B0606020202030204"/>
              <a:cs typeface="Arial Narrow" panose="020B0606020202030204"/>
            </a:endParaRPr>
          </a:p>
          <a:p>
            <a:pPr algn="ctr">
              <a:defRPr sz="1090" b="0">
                <a:solidFill>
                  <a:srgbClr val="111111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</a:defRPr>
            </a:pPr>
            <a:r>
              <a:rPr sz="1090" b="0">
                <a:solidFill>
                  <a:srgbClr val="111111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</a:rPr>
              <a:t>Assessment</a:t>
            </a:r>
            <a:endParaRPr sz="1090" b="0">
              <a:solidFill>
                <a:srgbClr val="111111"/>
              </a:solidFill>
              <a:latin typeface="Arial Narrow" panose="020B0606020202030204"/>
              <a:ea typeface="Arial Narrow" panose="020B0606020202030204"/>
              <a:cs typeface="Arial Narrow" panose="020B0606020202030204"/>
            </a:endParaRPr>
          </a:p>
        </p:txBody>
      </p:sp>
      <p:sp>
        <p:nvSpPr>
          <p:cNvPr id="86" name="R3-evidence-3"/>
          <p:cNvSpPr>
            <a:spLocks noGrp="1"/>
          </p:cNvSpPr>
          <p:nvPr/>
        </p:nvSpPr>
        <p:spPr>
          <a:xfrm>
            <a:off x="3781425" y="2133600"/>
            <a:ext cx="838200" cy="428625"/>
          </a:xfrm>
          <a:prstGeom prst="roundRect">
            <a:avLst>
              <a:gd name="adj" fmla="val 11111"/>
            </a:avLst>
          </a:prstGeom>
          <a:solidFill>
            <a:srgbClr val="91CCC3"/>
          </a:solidFill>
          <a:ln w="4763">
            <a:solidFill>
              <a:srgbClr val="91CCC3"/>
            </a:solidFill>
            <a:prstDash val="solid"/>
          </a:ln>
        </p:spPr>
        <p:txBody>
          <a:bodyPr wrap="square" lIns="9525" tIns="9525" rIns="9525" bIns="9525" anchor="ctr">
            <a:normAutofit/>
          </a:bodyPr>
          <a:lstStyle/>
          <a:p>
            <a:pPr algn="ctr">
              <a:defRPr sz="1090" b="0">
                <a:solidFill>
                  <a:srgbClr val="111111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</a:defRPr>
            </a:pPr>
            <a:r>
              <a:rPr sz="1090" b="0">
                <a:solidFill>
                  <a:srgbClr val="111111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</a:rPr>
              <a:t>Signal</a:t>
            </a:r>
            <a:endParaRPr sz="1090" b="0">
              <a:solidFill>
                <a:srgbClr val="111111"/>
              </a:solidFill>
              <a:latin typeface="Arial Narrow" panose="020B0606020202030204"/>
              <a:ea typeface="Arial Narrow" panose="020B0606020202030204"/>
              <a:cs typeface="Arial Narrow" panose="020B0606020202030204"/>
            </a:endParaRPr>
          </a:p>
          <a:p>
            <a:pPr algn="ctr">
              <a:defRPr sz="1090" b="0">
                <a:solidFill>
                  <a:srgbClr val="111111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</a:defRPr>
            </a:pPr>
            <a:r>
              <a:rPr sz="1090" b="0">
                <a:solidFill>
                  <a:srgbClr val="111111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</a:rPr>
              <a:t>Interpretation</a:t>
            </a:r>
            <a:endParaRPr sz="1090" b="0">
              <a:solidFill>
                <a:srgbClr val="111111"/>
              </a:solidFill>
              <a:latin typeface="Arial Narrow" panose="020B0606020202030204"/>
              <a:ea typeface="Arial Narrow" panose="020B0606020202030204"/>
              <a:cs typeface="Arial Narrow" panose="020B0606020202030204"/>
            </a:endParaRPr>
          </a:p>
        </p:txBody>
      </p:sp>
      <p:sp>
        <p:nvSpPr>
          <p:cNvPr id="87" name="R3-condition"/>
          <p:cNvSpPr>
            <a:spLocks noGrp="1"/>
          </p:cNvSpPr>
          <p:nvPr/>
        </p:nvSpPr>
        <p:spPr>
          <a:xfrm>
            <a:off x="4686300" y="2105025"/>
            <a:ext cx="1571625" cy="485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" tIns="0" rIns="9525" bIns="0" anchor="ctr">
            <a:normAutofit/>
          </a:bodyPr>
          <a:lstStyle/>
          <a:p>
            <a:pPr algn="ctr">
              <a:defRPr sz="1065" b="0">
                <a:solidFill>
                  <a:srgbClr val="111111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</a:defRPr>
            </a:pPr>
            <a:r>
              <a:rPr sz="1065" b="0">
                <a:solidFill>
                  <a:srgbClr val="111111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</a:rPr>
              <a:t>Method, carrier, and</a:t>
            </a:r>
            <a:endParaRPr sz="1065" b="0">
              <a:solidFill>
                <a:srgbClr val="111111"/>
              </a:solidFill>
              <a:latin typeface="Arial Narrow" panose="020B0606020202030204"/>
              <a:ea typeface="Arial Narrow" panose="020B0606020202030204"/>
              <a:cs typeface="Arial Narrow" panose="020B0606020202030204"/>
            </a:endParaRPr>
          </a:p>
          <a:p>
            <a:pPr algn="ctr">
              <a:defRPr sz="1065" b="0">
                <a:solidFill>
                  <a:srgbClr val="111111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</a:defRPr>
            </a:pPr>
            <a:r>
              <a:rPr sz="1065" b="0">
                <a:solidFill>
                  <a:srgbClr val="111111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</a:rPr>
              <a:t>significance all established</a:t>
            </a:r>
            <a:endParaRPr sz="1065" b="0">
              <a:solidFill>
                <a:srgbClr val="111111"/>
              </a:solidFill>
              <a:latin typeface="Arial Narrow" panose="020B0606020202030204"/>
              <a:ea typeface="Arial Narrow" panose="020B0606020202030204"/>
              <a:cs typeface="Arial Narrow" panose="020B0606020202030204"/>
            </a:endParaRPr>
          </a:p>
        </p:txBody>
      </p:sp>
      <p:sp>
        <p:nvSpPr>
          <p:cNvPr id="88" name="R3-pass"/>
          <p:cNvSpPr>
            <a:spLocks noGrp="1"/>
          </p:cNvSpPr>
          <p:nvPr/>
        </p:nvSpPr>
        <p:spPr>
          <a:xfrm>
            <a:off x="6429375" y="2105025"/>
            <a:ext cx="5524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240" b="0">
                <a:solidFill>
                  <a:srgbClr val="111111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</a:defRPr>
            </a:pPr>
            <a:r>
              <a:rPr sz="1240" b="0">
                <a:solidFill>
                  <a:srgbClr val="111111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</a:rPr>
              <a:t>Pass→1</a:t>
            </a:r>
            <a:endParaRPr sz="1240" b="0">
              <a:solidFill>
                <a:srgbClr val="111111"/>
              </a:solidFill>
              <a:latin typeface="Arial Narrow" panose="020B0606020202030204"/>
              <a:ea typeface="Arial Narrow" panose="020B0606020202030204"/>
              <a:cs typeface="Arial Narrow" panose="020B0606020202030204"/>
            </a:endParaRPr>
          </a:p>
        </p:txBody>
      </p:sp>
      <p:sp>
        <p:nvSpPr>
          <p:cNvPr id="89" name="R3-fail"/>
          <p:cNvSpPr>
            <a:spLocks noGrp="1"/>
          </p:cNvSpPr>
          <p:nvPr/>
        </p:nvSpPr>
        <p:spPr>
          <a:xfrm>
            <a:off x="6429375" y="2343150"/>
            <a:ext cx="5524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240" b="0">
                <a:solidFill>
                  <a:srgbClr val="111111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</a:defRPr>
            </a:pPr>
            <a:r>
              <a:rPr sz="1240" b="0">
                <a:solidFill>
                  <a:srgbClr val="111111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</a:rPr>
              <a:t>Fail→0</a:t>
            </a:r>
            <a:endParaRPr sz="1240" b="0">
              <a:solidFill>
                <a:srgbClr val="111111"/>
              </a:solidFill>
              <a:latin typeface="Arial Narrow" panose="020B0606020202030204"/>
              <a:ea typeface="Arial Narrow" panose="020B0606020202030204"/>
              <a:cs typeface="Arial Narrow" panose="020B0606020202030204"/>
            </a:endParaRPr>
          </a:p>
        </p:txBody>
      </p:sp>
      <p:sp>
        <p:nvSpPr>
          <p:cNvPr id="90" name="R3-review"/>
          <p:cNvSpPr>
            <a:spLocks noGrp="1"/>
          </p:cNvSpPr>
          <p:nvPr/>
        </p:nvSpPr>
        <p:spPr>
          <a:xfrm>
            <a:off x="6448425" y="2514600"/>
            <a:ext cx="523875" cy="123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86620"/>
          </a:bodyPr>
          <a:lstStyle/>
          <a:p>
            <a:pPr algn="ctr">
              <a:defRPr sz="940" b="0">
                <a:solidFill>
                  <a:srgbClr val="D9781E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</a:defRPr>
            </a:pPr>
            <a:r>
              <a:rPr sz="940" b="0">
                <a:solidFill>
                  <a:srgbClr val="D9781E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</a:rPr>
              <a:t>Review</a:t>
            </a:r>
            <a:endParaRPr sz="940" b="0">
              <a:solidFill>
                <a:srgbClr val="D9781E"/>
              </a:solidFill>
              <a:latin typeface="Arial Narrow" panose="020B0606020202030204"/>
              <a:ea typeface="Arial Narrow" panose="020B0606020202030204"/>
              <a:cs typeface="Arial Narrow" panose="020B0606020202030204"/>
            </a:endParaRPr>
          </a:p>
        </p:txBody>
      </p:sp>
      <p:sp>
        <p:nvSpPr>
          <p:cNvPr id="91" name="R4-criterion-card"/>
          <p:cNvSpPr>
            <a:spLocks noGrp="1"/>
          </p:cNvSpPr>
          <p:nvPr/>
        </p:nvSpPr>
        <p:spPr>
          <a:xfrm>
            <a:off x="454025" y="2686050"/>
            <a:ext cx="1505585" cy="581025"/>
          </a:xfrm>
          <a:prstGeom prst="roundRect">
            <a:avLst>
              <a:gd name="adj" fmla="val 9836"/>
            </a:avLst>
          </a:prstGeom>
          <a:solidFill>
            <a:srgbClr val="B4D9BA"/>
          </a:solidFill>
          <a:ln w="0">
            <a:solidFill>
              <a:srgbClr val="B4D9BA"/>
            </a:solidFill>
            <a:prstDash val="solid"/>
          </a:ln>
        </p:spPr>
      </p:sp>
      <p:sp>
        <p:nvSpPr>
          <p:cNvPr id="92" name="R4-title"/>
          <p:cNvSpPr>
            <a:spLocks noGrp="1"/>
          </p:cNvSpPr>
          <p:nvPr/>
        </p:nvSpPr>
        <p:spPr>
          <a:xfrm>
            <a:off x="520700" y="2705100"/>
            <a:ext cx="183769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/>
          <a:p>
            <a:pPr algn="l">
              <a:defRPr sz="1390" b="1">
                <a:solidFill>
                  <a:srgbClr val="111111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</a:defRPr>
            </a:pPr>
            <a:r>
              <a:rPr sz="1150" b="1">
                <a:solidFill>
                  <a:srgbClr val="111111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</a:rPr>
              <a:t>R4: Field-Test Support</a:t>
            </a:r>
            <a:endParaRPr sz="1150" b="1">
              <a:solidFill>
                <a:srgbClr val="111111"/>
              </a:solidFill>
              <a:latin typeface="Arial Narrow" panose="020B0606020202030204"/>
              <a:ea typeface="Arial Narrow" panose="020B0606020202030204"/>
              <a:cs typeface="Arial Narrow" panose="020B0606020202030204"/>
            </a:endParaRPr>
          </a:p>
        </p:txBody>
      </p:sp>
      <p:sp>
        <p:nvSpPr>
          <p:cNvPr id="93" name="R4-question"/>
          <p:cNvSpPr>
            <a:spLocks noGrp="1"/>
          </p:cNvSpPr>
          <p:nvPr/>
        </p:nvSpPr>
        <p:spPr>
          <a:xfrm>
            <a:off x="520700" y="2924175"/>
            <a:ext cx="15049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1358"/>
          </a:bodyPr>
          <a:lstStyle/>
          <a:p>
            <a:pPr algn="l">
              <a:defRPr sz="1165" b="0">
                <a:solidFill>
                  <a:srgbClr val="111111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</a:defRPr>
            </a:pPr>
            <a:r>
              <a:rPr sz="1165" b="0">
                <a:solidFill>
                  <a:srgbClr val="111111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</a:rPr>
              <a:t>Does a field test constrain</a:t>
            </a:r>
            <a:endParaRPr sz="1165" b="0">
              <a:solidFill>
                <a:srgbClr val="111111"/>
              </a:solidFill>
              <a:latin typeface="Arial Narrow" panose="020B0606020202030204"/>
              <a:ea typeface="Arial Narrow" panose="020B0606020202030204"/>
              <a:cs typeface="Arial Narrow" panose="020B0606020202030204"/>
            </a:endParaRPr>
          </a:p>
          <a:p>
            <a:pPr algn="l">
              <a:defRPr sz="1165" b="0">
                <a:solidFill>
                  <a:srgbClr val="111111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</a:defRPr>
            </a:pPr>
            <a:r>
              <a:rPr sz="1165" b="0">
                <a:solidFill>
                  <a:srgbClr val="111111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</a:rPr>
              <a:t>signal formation?</a:t>
            </a:r>
            <a:endParaRPr sz="1165" b="0">
              <a:solidFill>
                <a:srgbClr val="111111"/>
              </a:solidFill>
              <a:latin typeface="Arial Narrow" panose="020B0606020202030204"/>
              <a:ea typeface="Arial Narrow" panose="020B0606020202030204"/>
              <a:cs typeface="Arial Narrow" panose="020B0606020202030204"/>
            </a:endParaRPr>
          </a:p>
        </p:txBody>
      </p:sp>
      <p:sp>
        <p:nvSpPr>
          <p:cNvPr id="95" name="R4-evidence-1"/>
          <p:cNvSpPr>
            <a:spLocks noGrp="1"/>
          </p:cNvSpPr>
          <p:nvPr/>
        </p:nvSpPr>
        <p:spPr>
          <a:xfrm>
            <a:off x="2181225" y="2762250"/>
            <a:ext cx="1485900" cy="428625"/>
          </a:xfrm>
          <a:prstGeom prst="roundRect">
            <a:avLst>
              <a:gd name="adj" fmla="val 11111"/>
            </a:avLst>
          </a:prstGeom>
          <a:solidFill>
            <a:srgbClr val="B4D9BA"/>
          </a:solidFill>
          <a:ln w="4763">
            <a:solidFill>
              <a:srgbClr val="B4D9BA"/>
            </a:solidFill>
            <a:prstDash val="solid"/>
          </a:ln>
        </p:spPr>
        <p:txBody>
          <a:bodyPr wrap="square" lIns="9525" tIns="9525" rIns="9525" bIns="9525" anchor="ctr">
            <a:normAutofit/>
          </a:bodyPr>
          <a:lstStyle/>
          <a:p>
            <a:pPr algn="ctr">
              <a:defRPr sz="1090" b="0">
                <a:solidFill>
                  <a:srgbClr val="111111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</a:defRPr>
            </a:pPr>
            <a:r>
              <a:rPr sz="1090" b="0">
                <a:solidFill>
                  <a:srgbClr val="111111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</a:rPr>
              <a:t>Field-test Codes</a:t>
            </a:r>
            <a:endParaRPr sz="1090" b="0">
              <a:solidFill>
                <a:srgbClr val="111111"/>
              </a:solidFill>
              <a:latin typeface="Arial Narrow" panose="020B0606020202030204"/>
              <a:ea typeface="Arial Narrow" panose="020B0606020202030204"/>
              <a:cs typeface="Arial Narrow" panose="020B0606020202030204"/>
            </a:endParaRPr>
          </a:p>
          <a:p>
            <a:pPr algn="ctr">
              <a:defRPr sz="1090" b="0">
                <a:solidFill>
                  <a:srgbClr val="111111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</a:defRPr>
            </a:pPr>
            <a:r>
              <a:rPr sz="1090" b="0">
                <a:solidFill>
                  <a:srgbClr val="111111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</a:rPr>
              <a:t>TESTS</a:t>
            </a:r>
            <a:endParaRPr sz="1090" b="0">
              <a:solidFill>
                <a:srgbClr val="111111"/>
              </a:solidFill>
              <a:latin typeface="Arial Narrow" panose="020B0606020202030204"/>
              <a:ea typeface="Arial Narrow" panose="020B0606020202030204"/>
              <a:cs typeface="Arial Narrow" panose="020B0606020202030204"/>
            </a:endParaRPr>
          </a:p>
        </p:txBody>
      </p:sp>
      <p:sp>
        <p:nvSpPr>
          <p:cNvPr id="96" name="R4-condition"/>
          <p:cNvSpPr>
            <a:spLocks noGrp="1"/>
          </p:cNvSpPr>
          <p:nvPr/>
        </p:nvSpPr>
        <p:spPr>
          <a:xfrm>
            <a:off x="4305300" y="2733675"/>
            <a:ext cx="1971675" cy="485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" tIns="0" rIns="9525" bIns="0" anchor="ctr">
            <a:normAutofit/>
          </a:bodyPr>
          <a:lstStyle/>
          <a:p>
            <a:pPr algn="ctr">
              <a:defRPr sz="1065" b="0">
                <a:solidFill>
                  <a:srgbClr val="111111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</a:defRPr>
            </a:pPr>
            <a:r>
              <a:rPr sz="1065" b="0">
                <a:solidFill>
                  <a:srgbClr val="111111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</a:rPr>
              <a:t>Positive non-reversal '+' code in</a:t>
            </a:r>
            <a:endParaRPr sz="1065" b="0">
              <a:solidFill>
                <a:srgbClr val="111111"/>
              </a:solidFill>
              <a:latin typeface="Arial Narrow" panose="020B0606020202030204"/>
              <a:ea typeface="Arial Narrow" panose="020B0606020202030204"/>
              <a:cs typeface="Arial Narrow" panose="020B0606020202030204"/>
            </a:endParaRPr>
          </a:p>
          <a:p>
            <a:pPr algn="ctr">
              <a:defRPr sz="1065" b="0">
                <a:solidFill>
                  <a:srgbClr val="111111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</a:defRPr>
            </a:pPr>
            <a:r>
              <a:rPr sz="1065" b="0">
                <a:solidFill>
                  <a:srgbClr val="111111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</a:rPr>
              <a:t>TESTS (exclude standalone R+).</a:t>
            </a:r>
            <a:endParaRPr sz="1065" b="0">
              <a:solidFill>
                <a:srgbClr val="111111"/>
              </a:solidFill>
              <a:latin typeface="Arial Narrow" panose="020B0606020202030204"/>
              <a:ea typeface="Arial Narrow" panose="020B0606020202030204"/>
              <a:cs typeface="Arial Narrow" panose="020B0606020202030204"/>
            </a:endParaRPr>
          </a:p>
        </p:txBody>
      </p:sp>
      <p:sp>
        <p:nvSpPr>
          <p:cNvPr id="97" name="R4-pass"/>
          <p:cNvSpPr>
            <a:spLocks noGrp="1"/>
          </p:cNvSpPr>
          <p:nvPr/>
        </p:nvSpPr>
        <p:spPr>
          <a:xfrm>
            <a:off x="6429375" y="2733675"/>
            <a:ext cx="5524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240" b="0">
                <a:solidFill>
                  <a:srgbClr val="111111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</a:defRPr>
            </a:pPr>
            <a:r>
              <a:rPr sz="1240" b="0">
                <a:solidFill>
                  <a:srgbClr val="111111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</a:rPr>
              <a:t>Pass→1</a:t>
            </a:r>
            <a:endParaRPr sz="1240" b="0">
              <a:solidFill>
                <a:srgbClr val="111111"/>
              </a:solidFill>
              <a:latin typeface="Arial Narrow" panose="020B0606020202030204"/>
              <a:ea typeface="Arial Narrow" panose="020B0606020202030204"/>
              <a:cs typeface="Arial Narrow" panose="020B0606020202030204"/>
            </a:endParaRPr>
          </a:p>
        </p:txBody>
      </p:sp>
      <p:sp>
        <p:nvSpPr>
          <p:cNvPr id="98" name="R4-fail"/>
          <p:cNvSpPr>
            <a:spLocks noGrp="1"/>
          </p:cNvSpPr>
          <p:nvPr/>
        </p:nvSpPr>
        <p:spPr>
          <a:xfrm>
            <a:off x="6429375" y="2971800"/>
            <a:ext cx="5524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240" b="0">
                <a:solidFill>
                  <a:srgbClr val="111111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</a:defRPr>
            </a:pPr>
            <a:r>
              <a:rPr sz="1240" b="0">
                <a:solidFill>
                  <a:srgbClr val="111111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</a:rPr>
              <a:t>Fail→0</a:t>
            </a:r>
            <a:endParaRPr sz="1240" b="0">
              <a:solidFill>
                <a:srgbClr val="111111"/>
              </a:solidFill>
              <a:latin typeface="Arial Narrow" panose="020B0606020202030204"/>
              <a:ea typeface="Arial Narrow" panose="020B0606020202030204"/>
              <a:cs typeface="Arial Narrow" panose="020B0606020202030204"/>
            </a:endParaRPr>
          </a:p>
        </p:txBody>
      </p:sp>
      <p:sp>
        <p:nvSpPr>
          <p:cNvPr id="99" name="R5-criterion-card"/>
          <p:cNvSpPr>
            <a:spLocks noGrp="1"/>
          </p:cNvSpPr>
          <p:nvPr/>
        </p:nvSpPr>
        <p:spPr>
          <a:xfrm>
            <a:off x="454025" y="3314700"/>
            <a:ext cx="1505585" cy="581025"/>
          </a:xfrm>
          <a:prstGeom prst="roundRect">
            <a:avLst>
              <a:gd name="adj" fmla="val 9836"/>
            </a:avLst>
          </a:prstGeom>
          <a:solidFill>
            <a:srgbClr val="A2D1CD"/>
          </a:solidFill>
          <a:ln w="0">
            <a:solidFill>
              <a:srgbClr val="A2D1CD"/>
            </a:solidFill>
            <a:prstDash val="solid"/>
          </a:ln>
        </p:spPr>
      </p:sp>
      <p:sp>
        <p:nvSpPr>
          <p:cNvPr id="100" name="R5-title"/>
          <p:cNvSpPr>
            <a:spLocks noGrp="1"/>
          </p:cNvSpPr>
          <p:nvPr/>
        </p:nvSpPr>
        <p:spPr>
          <a:xfrm>
            <a:off x="520700" y="3333750"/>
            <a:ext cx="152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25" b="1">
                <a:solidFill>
                  <a:srgbClr val="111111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</a:defRPr>
            </a:pPr>
            <a:r>
              <a:rPr sz="1150" b="1">
                <a:solidFill>
                  <a:srgbClr val="111111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</a:rPr>
              <a:t>R5 Structural Integrity</a:t>
            </a:r>
            <a:endParaRPr sz="1150" b="1">
              <a:solidFill>
                <a:srgbClr val="111111"/>
              </a:solidFill>
              <a:latin typeface="Arial Narrow" panose="020B0606020202030204"/>
              <a:ea typeface="Arial Narrow" panose="020B0606020202030204"/>
              <a:cs typeface="Arial Narrow" panose="020B0606020202030204"/>
            </a:endParaRPr>
          </a:p>
        </p:txBody>
      </p:sp>
      <p:sp>
        <p:nvSpPr>
          <p:cNvPr id="101" name="R5-question"/>
          <p:cNvSpPr>
            <a:spLocks noGrp="1"/>
          </p:cNvSpPr>
          <p:nvPr/>
        </p:nvSpPr>
        <p:spPr>
          <a:xfrm>
            <a:off x="520700" y="3552825"/>
            <a:ext cx="15049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1358"/>
          </a:bodyPr>
          <a:lstStyle/>
          <a:p>
            <a:pPr algn="l">
              <a:defRPr sz="1165" b="0">
                <a:solidFill>
                  <a:srgbClr val="111111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</a:defRPr>
            </a:pPr>
            <a:r>
              <a:rPr sz="1165" b="0">
                <a:solidFill>
                  <a:srgbClr val="111111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</a:rPr>
              <a:t>Is later deformation</a:t>
            </a:r>
            <a:endParaRPr sz="1165" b="0">
              <a:solidFill>
                <a:srgbClr val="111111"/>
              </a:solidFill>
              <a:latin typeface="Arial Narrow" panose="020B0606020202030204"/>
              <a:ea typeface="Arial Narrow" panose="020B0606020202030204"/>
              <a:cs typeface="Arial Narrow" panose="020B0606020202030204"/>
            </a:endParaRPr>
          </a:p>
          <a:p>
            <a:pPr algn="l">
              <a:defRPr sz="1165" b="0">
                <a:solidFill>
                  <a:srgbClr val="111111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</a:defRPr>
            </a:pPr>
            <a:r>
              <a:rPr sz="1165" b="0">
                <a:solidFill>
                  <a:srgbClr val="111111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</a:rPr>
              <a:t>adequately controlled?</a:t>
            </a:r>
            <a:endParaRPr sz="1165" b="0">
              <a:solidFill>
                <a:srgbClr val="111111"/>
              </a:solidFill>
              <a:latin typeface="Arial Narrow" panose="020B0606020202030204"/>
              <a:ea typeface="Arial Narrow" panose="020B0606020202030204"/>
              <a:cs typeface="Arial Narrow" panose="020B0606020202030204"/>
            </a:endParaRPr>
          </a:p>
        </p:txBody>
      </p:sp>
      <p:sp>
        <p:nvSpPr>
          <p:cNvPr id="103" name="R5-evidence-1"/>
          <p:cNvSpPr>
            <a:spLocks noGrp="1"/>
          </p:cNvSpPr>
          <p:nvPr/>
        </p:nvSpPr>
        <p:spPr>
          <a:xfrm>
            <a:off x="2181225" y="3390900"/>
            <a:ext cx="409575" cy="428625"/>
          </a:xfrm>
          <a:prstGeom prst="roundRect">
            <a:avLst>
              <a:gd name="adj" fmla="val 11628"/>
            </a:avLst>
          </a:prstGeom>
          <a:solidFill>
            <a:srgbClr val="A2D1CD"/>
          </a:solidFill>
          <a:ln w="4763">
            <a:solidFill>
              <a:srgbClr val="A2D1CD"/>
            </a:solidFill>
            <a:prstDash val="solid"/>
          </a:ln>
        </p:spPr>
        <p:txBody>
          <a:bodyPr wrap="square" lIns="9525" tIns="9525" rIns="9525" bIns="9525" anchor="ctr">
            <a:normAutofit/>
          </a:bodyPr>
          <a:lstStyle/>
          <a:p>
            <a:pPr algn="ctr">
              <a:defRPr sz="1090" b="0">
                <a:solidFill>
                  <a:srgbClr val="111111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</a:defRPr>
            </a:pPr>
            <a:r>
              <a:rPr sz="1090" b="0">
                <a:solidFill>
                  <a:srgbClr val="111111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</a:rPr>
              <a:t>Rigid</a:t>
            </a:r>
            <a:endParaRPr sz="1090" b="0">
              <a:solidFill>
                <a:srgbClr val="111111"/>
              </a:solidFill>
              <a:latin typeface="Arial Narrow" panose="020B0606020202030204"/>
              <a:ea typeface="Arial Narrow" panose="020B0606020202030204"/>
              <a:cs typeface="Arial Narrow" panose="020B0606020202030204"/>
            </a:endParaRPr>
          </a:p>
          <a:p>
            <a:pPr algn="ctr">
              <a:defRPr sz="1090" b="0">
                <a:solidFill>
                  <a:srgbClr val="111111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</a:defRPr>
            </a:pPr>
            <a:r>
              <a:rPr sz="1090" b="0">
                <a:solidFill>
                  <a:srgbClr val="111111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</a:rPr>
              <a:t>frame</a:t>
            </a:r>
            <a:endParaRPr sz="1090" b="0">
              <a:solidFill>
                <a:srgbClr val="111111"/>
              </a:solidFill>
              <a:latin typeface="Arial Narrow" panose="020B0606020202030204"/>
              <a:ea typeface="Arial Narrow" panose="020B0606020202030204"/>
              <a:cs typeface="Arial Narrow" panose="020B0606020202030204"/>
            </a:endParaRPr>
          </a:p>
        </p:txBody>
      </p:sp>
      <p:sp>
        <p:nvSpPr>
          <p:cNvPr id="104" name="R5-evidence-2"/>
          <p:cNvSpPr>
            <a:spLocks noGrp="1"/>
          </p:cNvSpPr>
          <p:nvPr/>
        </p:nvSpPr>
        <p:spPr>
          <a:xfrm>
            <a:off x="2628900" y="3390900"/>
            <a:ext cx="704850" cy="428625"/>
          </a:xfrm>
          <a:prstGeom prst="roundRect">
            <a:avLst>
              <a:gd name="adj" fmla="val 11111"/>
            </a:avLst>
          </a:prstGeom>
          <a:solidFill>
            <a:srgbClr val="A2D1CD"/>
          </a:solidFill>
          <a:ln w="4763">
            <a:solidFill>
              <a:srgbClr val="A2D1CD"/>
            </a:solidFill>
            <a:prstDash val="solid"/>
          </a:ln>
        </p:spPr>
        <p:txBody>
          <a:bodyPr wrap="square" lIns="9525" tIns="9525" rIns="9525" bIns="9525" anchor="ctr">
            <a:normAutofit/>
          </a:bodyPr>
          <a:lstStyle/>
          <a:p>
            <a:pPr algn="ctr">
              <a:defRPr sz="1090" b="0">
                <a:solidFill>
                  <a:srgbClr val="111111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</a:defRPr>
            </a:pPr>
            <a:r>
              <a:rPr sz="1090" b="0">
                <a:solidFill>
                  <a:srgbClr val="111111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</a:rPr>
              <a:t>Deformation</a:t>
            </a:r>
            <a:endParaRPr sz="1090" b="0">
              <a:solidFill>
                <a:srgbClr val="111111"/>
              </a:solidFill>
              <a:latin typeface="Arial Narrow" panose="020B0606020202030204"/>
              <a:ea typeface="Arial Narrow" panose="020B0606020202030204"/>
              <a:cs typeface="Arial Narrow" panose="020B0606020202030204"/>
            </a:endParaRPr>
          </a:p>
          <a:p>
            <a:pPr algn="ctr">
              <a:defRPr sz="1090" b="0">
                <a:solidFill>
                  <a:srgbClr val="111111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</a:defRPr>
            </a:pPr>
            <a:r>
              <a:rPr sz="1090" b="0">
                <a:solidFill>
                  <a:srgbClr val="111111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</a:rPr>
              <a:t>check</a:t>
            </a:r>
            <a:endParaRPr sz="1090" b="0">
              <a:solidFill>
                <a:srgbClr val="111111"/>
              </a:solidFill>
              <a:latin typeface="Arial Narrow" panose="020B0606020202030204"/>
              <a:ea typeface="Arial Narrow" panose="020B0606020202030204"/>
              <a:cs typeface="Arial Narrow" panose="020B0606020202030204"/>
            </a:endParaRPr>
          </a:p>
        </p:txBody>
      </p:sp>
      <p:sp>
        <p:nvSpPr>
          <p:cNvPr id="105" name="R5-evidence-3"/>
          <p:cNvSpPr>
            <a:spLocks noGrp="1"/>
          </p:cNvSpPr>
          <p:nvPr/>
        </p:nvSpPr>
        <p:spPr>
          <a:xfrm>
            <a:off x="3371850" y="3390900"/>
            <a:ext cx="685800" cy="428625"/>
          </a:xfrm>
          <a:prstGeom prst="roundRect">
            <a:avLst>
              <a:gd name="adj" fmla="val 11111"/>
            </a:avLst>
          </a:prstGeom>
          <a:solidFill>
            <a:srgbClr val="A2D1CD"/>
          </a:solidFill>
          <a:ln w="4763">
            <a:solidFill>
              <a:srgbClr val="A2D1CD"/>
            </a:solidFill>
            <a:prstDash val="solid"/>
          </a:ln>
        </p:spPr>
        <p:txBody>
          <a:bodyPr wrap="square" lIns="9525" tIns="9525" rIns="9525" bIns="9525" anchor="ctr">
            <a:normAutofit/>
          </a:bodyPr>
          <a:lstStyle/>
          <a:p>
            <a:pPr algn="ctr">
              <a:defRPr sz="1090" b="0">
                <a:solidFill>
                  <a:srgbClr val="111111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</a:defRPr>
            </a:pPr>
            <a:r>
              <a:rPr sz="1090" b="0">
                <a:solidFill>
                  <a:srgbClr val="111111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</a:rPr>
              <a:t>Flattening</a:t>
            </a:r>
            <a:endParaRPr sz="1090" b="0">
              <a:solidFill>
                <a:srgbClr val="111111"/>
              </a:solidFill>
              <a:latin typeface="Arial Narrow" panose="020B0606020202030204"/>
              <a:ea typeface="Arial Narrow" panose="020B0606020202030204"/>
              <a:cs typeface="Arial Narrow" panose="020B0606020202030204"/>
            </a:endParaRPr>
          </a:p>
          <a:p>
            <a:pPr algn="ctr">
              <a:defRPr sz="1090" b="0">
                <a:solidFill>
                  <a:srgbClr val="111111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</a:defRPr>
            </a:pPr>
            <a:r>
              <a:rPr sz="1090" b="0">
                <a:solidFill>
                  <a:srgbClr val="111111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</a:rPr>
              <a:t>correction</a:t>
            </a:r>
            <a:endParaRPr sz="1090" b="0">
              <a:solidFill>
                <a:srgbClr val="111111"/>
              </a:solidFill>
              <a:latin typeface="Arial Narrow" panose="020B0606020202030204"/>
              <a:ea typeface="Arial Narrow" panose="020B0606020202030204"/>
              <a:cs typeface="Arial Narrow" panose="020B0606020202030204"/>
            </a:endParaRPr>
          </a:p>
        </p:txBody>
      </p:sp>
      <p:sp>
        <p:nvSpPr>
          <p:cNvPr id="106" name="R5-evidence-4"/>
          <p:cNvSpPr>
            <a:spLocks noGrp="1"/>
          </p:cNvSpPr>
          <p:nvPr/>
        </p:nvSpPr>
        <p:spPr>
          <a:xfrm>
            <a:off x="4095750" y="3390900"/>
            <a:ext cx="523875" cy="428625"/>
          </a:xfrm>
          <a:prstGeom prst="roundRect">
            <a:avLst>
              <a:gd name="adj" fmla="val 11111"/>
            </a:avLst>
          </a:prstGeom>
          <a:solidFill>
            <a:srgbClr val="A2D1CD"/>
          </a:solidFill>
          <a:ln w="4763">
            <a:solidFill>
              <a:srgbClr val="A2D1CD"/>
            </a:solidFill>
            <a:prstDash val="solid"/>
          </a:ln>
        </p:spPr>
        <p:txBody>
          <a:bodyPr wrap="square" lIns="9525" tIns="9525" rIns="9525" bIns="9525" anchor="ctr">
            <a:normAutofit/>
          </a:bodyPr>
          <a:lstStyle/>
          <a:p>
            <a:pPr algn="ctr">
              <a:defRPr sz="1090" b="0">
                <a:solidFill>
                  <a:srgbClr val="111111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</a:defRPr>
            </a:pPr>
            <a:r>
              <a:rPr sz="1090" b="0">
                <a:solidFill>
                  <a:srgbClr val="111111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</a:rPr>
              <a:t>Intrusion</a:t>
            </a:r>
            <a:endParaRPr sz="1090" b="0">
              <a:solidFill>
                <a:srgbClr val="111111"/>
              </a:solidFill>
              <a:latin typeface="Arial Narrow" panose="020B0606020202030204"/>
              <a:ea typeface="Arial Narrow" panose="020B0606020202030204"/>
              <a:cs typeface="Arial Narrow" panose="020B0606020202030204"/>
            </a:endParaRPr>
          </a:p>
          <a:p>
            <a:pPr algn="ctr">
              <a:defRPr sz="1090" b="0">
                <a:solidFill>
                  <a:srgbClr val="111111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</a:defRPr>
            </a:pPr>
            <a:r>
              <a:rPr sz="1090" b="0">
                <a:solidFill>
                  <a:srgbClr val="111111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</a:rPr>
              <a:t>timing</a:t>
            </a:r>
            <a:endParaRPr sz="1090" b="0">
              <a:solidFill>
                <a:srgbClr val="111111"/>
              </a:solidFill>
              <a:latin typeface="Arial Narrow" panose="020B0606020202030204"/>
              <a:ea typeface="Arial Narrow" panose="020B0606020202030204"/>
              <a:cs typeface="Arial Narrow" panose="020B0606020202030204"/>
            </a:endParaRPr>
          </a:p>
        </p:txBody>
      </p:sp>
      <p:sp>
        <p:nvSpPr>
          <p:cNvPr id="107" name="R5-condition"/>
          <p:cNvSpPr>
            <a:spLocks noGrp="1"/>
          </p:cNvSpPr>
          <p:nvPr/>
        </p:nvSpPr>
        <p:spPr>
          <a:xfrm>
            <a:off x="4676775" y="3362325"/>
            <a:ext cx="1581150" cy="485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" tIns="0" rIns="9525" bIns="0" anchor="ctr">
            <a:normAutofit/>
          </a:bodyPr>
          <a:lstStyle/>
          <a:p>
            <a:pPr algn="ctr">
              <a:defRPr sz="1065" b="0">
                <a:solidFill>
                  <a:srgbClr val="111111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</a:defRPr>
            </a:pPr>
            <a:r>
              <a:rPr sz="1065" b="0">
                <a:solidFill>
                  <a:srgbClr val="111111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</a:rPr>
              <a:t>No structural conflict or</a:t>
            </a:r>
            <a:endParaRPr sz="1065" b="0">
              <a:solidFill>
                <a:srgbClr val="111111"/>
              </a:solidFill>
              <a:latin typeface="Arial Narrow" panose="020B0606020202030204"/>
              <a:ea typeface="Arial Narrow" panose="020B0606020202030204"/>
              <a:cs typeface="Arial Narrow" panose="020B0606020202030204"/>
            </a:endParaRPr>
          </a:p>
          <a:p>
            <a:pPr algn="ctr">
              <a:defRPr sz="1065" b="0">
                <a:solidFill>
                  <a:srgbClr val="111111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</a:defRPr>
            </a:pPr>
            <a:r>
              <a:rPr sz="1065" b="0">
                <a:solidFill>
                  <a:srgbClr val="111111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</a:rPr>
              <a:t>supported correction.</a:t>
            </a:r>
            <a:endParaRPr sz="1065" b="0">
              <a:solidFill>
                <a:srgbClr val="111111"/>
              </a:solidFill>
              <a:latin typeface="Arial Narrow" panose="020B0606020202030204"/>
              <a:ea typeface="Arial Narrow" panose="020B0606020202030204"/>
              <a:cs typeface="Arial Narrow" panose="020B0606020202030204"/>
            </a:endParaRPr>
          </a:p>
        </p:txBody>
      </p:sp>
      <p:sp>
        <p:nvSpPr>
          <p:cNvPr id="108" name="R5-pass"/>
          <p:cNvSpPr>
            <a:spLocks noGrp="1"/>
          </p:cNvSpPr>
          <p:nvPr/>
        </p:nvSpPr>
        <p:spPr>
          <a:xfrm>
            <a:off x="6429375" y="3362325"/>
            <a:ext cx="5524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240" b="0">
                <a:solidFill>
                  <a:srgbClr val="111111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</a:defRPr>
            </a:pPr>
            <a:r>
              <a:rPr sz="1240" b="0">
                <a:solidFill>
                  <a:srgbClr val="111111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</a:rPr>
              <a:t>Pass→1</a:t>
            </a:r>
            <a:endParaRPr sz="1240" b="0">
              <a:solidFill>
                <a:srgbClr val="111111"/>
              </a:solidFill>
              <a:latin typeface="Arial Narrow" panose="020B0606020202030204"/>
              <a:ea typeface="Arial Narrow" panose="020B0606020202030204"/>
              <a:cs typeface="Arial Narrow" panose="020B0606020202030204"/>
            </a:endParaRPr>
          </a:p>
        </p:txBody>
      </p:sp>
      <p:sp>
        <p:nvSpPr>
          <p:cNvPr id="109" name="R5-fail"/>
          <p:cNvSpPr>
            <a:spLocks noGrp="1"/>
          </p:cNvSpPr>
          <p:nvPr/>
        </p:nvSpPr>
        <p:spPr>
          <a:xfrm>
            <a:off x="6429375" y="3600450"/>
            <a:ext cx="5524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240" b="0">
                <a:solidFill>
                  <a:srgbClr val="111111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</a:defRPr>
            </a:pPr>
            <a:r>
              <a:rPr sz="1240" b="0">
                <a:solidFill>
                  <a:srgbClr val="111111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</a:rPr>
              <a:t>Fail→0</a:t>
            </a:r>
            <a:endParaRPr sz="1240" b="0">
              <a:solidFill>
                <a:srgbClr val="111111"/>
              </a:solidFill>
              <a:latin typeface="Arial Narrow" panose="020B0606020202030204"/>
              <a:ea typeface="Arial Narrow" panose="020B0606020202030204"/>
              <a:cs typeface="Arial Narrow" panose="020B0606020202030204"/>
            </a:endParaRPr>
          </a:p>
        </p:txBody>
      </p:sp>
      <p:sp>
        <p:nvSpPr>
          <p:cNvPr id="110" name="R5-review"/>
          <p:cNvSpPr>
            <a:spLocks noGrp="1"/>
          </p:cNvSpPr>
          <p:nvPr/>
        </p:nvSpPr>
        <p:spPr>
          <a:xfrm>
            <a:off x="6448425" y="3771900"/>
            <a:ext cx="523875" cy="123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86620"/>
          </a:bodyPr>
          <a:lstStyle/>
          <a:p>
            <a:pPr algn="ctr">
              <a:defRPr sz="940" b="0">
                <a:solidFill>
                  <a:srgbClr val="D9781E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</a:defRPr>
            </a:pPr>
            <a:r>
              <a:rPr sz="940" b="0">
                <a:solidFill>
                  <a:srgbClr val="D9781E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</a:rPr>
              <a:t>Review</a:t>
            </a:r>
            <a:endParaRPr sz="940" b="0">
              <a:solidFill>
                <a:srgbClr val="D9781E"/>
              </a:solidFill>
              <a:latin typeface="Arial Narrow" panose="020B0606020202030204"/>
              <a:ea typeface="Arial Narrow" panose="020B0606020202030204"/>
              <a:cs typeface="Arial Narrow" panose="020B0606020202030204"/>
            </a:endParaRPr>
          </a:p>
        </p:txBody>
      </p:sp>
      <p:sp>
        <p:nvSpPr>
          <p:cNvPr id="111" name="R6-criterion-card"/>
          <p:cNvSpPr>
            <a:spLocks noGrp="1"/>
          </p:cNvSpPr>
          <p:nvPr/>
        </p:nvSpPr>
        <p:spPr>
          <a:xfrm>
            <a:off x="454025" y="3943350"/>
            <a:ext cx="1505585" cy="581025"/>
          </a:xfrm>
          <a:prstGeom prst="roundRect">
            <a:avLst>
              <a:gd name="adj" fmla="val 9836"/>
            </a:avLst>
          </a:prstGeom>
          <a:solidFill>
            <a:srgbClr val="A3CBDB"/>
          </a:solidFill>
          <a:ln w="0">
            <a:solidFill>
              <a:srgbClr val="A3CBDB"/>
            </a:solidFill>
            <a:prstDash val="solid"/>
          </a:ln>
        </p:spPr>
      </p:sp>
      <p:sp>
        <p:nvSpPr>
          <p:cNvPr id="112" name="R6-title"/>
          <p:cNvSpPr>
            <a:spLocks noGrp="1"/>
          </p:cNvSpPr>
          <p:nvPr/>
        </p:nvSpPr>
        <p:spPr>
          <a:xfrm>
            <a:off x="520700" y="3962400"/>
            <a:ext cx="152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25" b="1">
                <a:solidFill>
                  <a:srgbClr val="111111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</a:defRPr>
            </a:pPr>
            <a:r>
              <a:rPr sz="1225" b="1">
                <a:solidFill>
                  <a:srgbClr val="111111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</a:rPr>
              <a:t>R6 Reversal Support</a:t>
            </a:r>
            <a:endParaRPr sz="1225" b="1">
              <a:solidFill>
                <a:srgbClr val="111111"/>
              </a:solidFill>
              <a:latin typeface="Arial Narrow" panose="020B0606020202030204"/>
              <a:ea typeface="Arial Narrow" panose="020B0606020202030204"/>
              <a:cs typeface="Arial Narrow" panose="020B0606020202030204"/>
            </a:endParaRPr>
          </a:p>
        </p:txBody>
      </p:sp>
      <p:sp>
        <p:nvSpPr>
          <p:cNvPr id="113" name="R6-question"/>
          <p:cNvSpPr>
            <a:spLocks noGrp="1"/>
          </p:cNvSpPr>
          <p:nvPr/>
        </p:nvSpPr>
        <p:spPr>
          <a:xfrm>
            <a:off x="520700" y="4181475"/>
            <a:ext cx="15049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1358"/>
          </a:bodyPr>
          <a:lstStyle/>
          <a:p>
            <a:pPr algn="l">
              <a:defRPr sz="1165" b="0">
                <a:solidFill>
                  <a:srgbClr val="111111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</a:defRPr>
            </a:pPr>
            <a:r>
              <a:rPr sz="1165" b="0">
                <a:solidFill>
                  <a:srgbClr val="111111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</a:rPr>
              <a:t>Do opposite polarities</a:t>
            </a:r>
            <a:endParaRPr sz="1165" b="0">
              <a:solidFill>
                <a:srgbClr val="111111"/>
              </a:solidFill>
              <a:latin typeface="Arial Narrow" panose="020B0606020202030204"/>
              <a:ea typeface="Arial Narrow" panose="020B0606020202030204"/>
              <a:cs typeface="Arial Narrow" panose="020B0606020202030204"/>
            </a:endParaRPr>
          </a:p>
          <a:p>
            <a:pPr algn="l">
              <a:defRPr sz="1165" b="0">
                <a:solidFill>
                  <a:srgbClr val="111111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</a:defRPr>
            </a:pPr>
            <a:r>
              <a:rPr sz="1165" b="0">
                <a:solidFill>
                  <a:srgbClr val="111111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</a:rPr>
              <a:t>pass a reversal test?</a:t>
            </a:r>
            <a:endParaRPr sz="1165" b="0">
              <a:solidFill>
                <a:srgbClr val="111111"/>
              </a:solidFill>
              <a:latin typeface="Arial Narrow" panose="020B0606020202030204"/>
              <a:ea typeface="Arial Narrow" panose="020B0606020202030204"/>
              <a:cs typeface="Arial Narrow" panose="020B0606020202030204"/>
            </a:endParaRPr>
          </a:p>
        </p:txBody>
      </p:sp>
      <p:sp>
        <p:nvSpPr>
          <p:cNvPr id="115" name="R6-evidence-1"/>
          <p:cNvSpPr>
            <a:spLocks noGrp="1"/>
          </p:cNvSpPr>
          <p:nvPr/>
        </p:nvSpPr>
        <p:spPr>
          <a:xfrm>
            <a:off x="2190750" y="4019550"/>
            <a:ext cx="1000125" cy="428625"/>
          </a:xfrm>
          <a:prstGeom prst="roundRect">
            <a:avLst>
              <a:gd name="adj" fmla="val 11111"/>
            </a:avLst>
          </a:prstGeom>
          <a:solidFill>
            <a:srgbClr val="A3CBDB"/>
          </a:solidFill>
          <a:ln w="4763">
            <a:solidFill>
              <a:srgbClr val="A3CBDB"/>
            </a:solidFill>
            <a:prstDash val="solid"/>
          </a:ln>
        </p:spPr>
        <p:txBody>
          <a:bodyPr wrap="square" lIns="9525" tIns="9525" rIns="9525" bIns="9525" anchor="ctr">
            <a:normAutofit fontScale="80658"/>
          </a:bodyPr>
          <a:lstStyle/>
          <a:p>
            <a:pPr algn="ctr">
              <a:defRPr sz="1035" b="0">
                <a:solidFill>
                  <a:srgbClr val="111111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</a:defRPr>
            </a:pPr>
            <a:r>
              <a:rPr sz="1035" b="0">
                <a:solidFill>
                  <a:srgbClr val="111111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</a:rPr>
              <a:t>Reversal</a:t>
            </a:r>
            <a:endParaRPr sz="1035" b="0">
              <a:solidFill>
                <a:srgbClr val="111111"/>
              </a:solidFill>
              <a:latin typeface="Arial Narrow" panose="020B0606020202030204"/>
              <a:ea typeface="Arial Narrow" panose="020B0606020202030204"/>
              <a:cs typeface="Arial Narrow" panose="020B0606020202030204"/>
            </a:endParaRPr>
          </a:p>
          <a:p>
            <a:pPr algn="ctr">
              <a:defRPr sz="1035" b="0">
                <a:solidFill>
                  <a:srgbClr val="111111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</a:defRPr>
            </a:pPr>
            <a:r>
              <a:rPr sz="1035" b="0">
                <a:solidFill>
                  <a:srgbClr val="111111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</a:rPr>
              <a:t>code</a:t>
            </a:r>
            <a:endParaRPr sz="1035" b="0">
              <a:solidFill>
                <a:srgbClr val="111111"/>
              </a:solidFill>
              <a:latin typeface="Arial Narrow" panose="020B0606020202030204"/>
              <a:ea typeface="Arial Narrow" panose="020B0606020202030204"/>
              <a:cs typeface="Arial Narrow" panose="020B0606020202030204"/>
            </a:endParaRPr>
          </a:p>
          <a:p>
            <a:pPr algn="ctr">
              <a:defRPr sz="1035" b="0">
                <a:solidFill>
                  <a:srgbClr val="111111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</a:defRPr>
            </a:pPr>
            <a:r>
              <a:rPr sz="1035" b="0">
                <a:solidFill>
                  <a:srgbClr val="111111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</a:rPr>
              <a:t>(TESTS)</a:t>
            </a:r>
            <a:endParaRPr sz="1035" b="0">
              <a:solidFill>
                <a:srgbClr val="111111"/>
              </a:solidFill>
              <a:latin typeface="Arial Narrow" panose="020B0606020202030204"/>
              <a:ea typeface="Arial Narrow" panose="020B0606020202030204"/>
              <a:cs typeface="Arial Narrow" panose="020B0606020202030204"/>
            </a:endParaRPr>
          </a:p>
        </p:txBody>
      </p:sp>
      <p:sp>
        <p:nvSpPr>
          <p:cNvPr id="116" name="R6-evidence-2"/>
          <p:cNvSpPr>
            <a:spLocks noGrp="1"/>
          </p:cNvSpPr>
          <p:nvPr/>
        </p:nvSpPr>
        <p:spPr>
          <a:xfrm>
            <a:off x="3228975" y="4019550"/>
            <a:ext cx="885825" cy="428625"/>
          </a:xfrm>
          <a:prstGeom prst="roundRect">
            <a:avLst>
              <a:gd name="adj" fmla="val 11111"/>
            </a:avLst>
          </a:prstGeom>
          <a:solidFill>
            <a:srgbClr val="A3CBDB"/>
          </a:solidFill>
          <a:ln w="4763">
            <a:solidFill>
              <a:srgbClr val="A3CBDB"/>
            </a:solidFill>
            <a:prstDash val="solid"/>
          </a:ln>
        </p:spPr>
        <p:txBody>
          <a:bodyPr wrap="square" lIns="9525" tIns="9525" rIns="9525" bIns="9525" anchor="ctr">
            <a:normAutofit fontScale="80658"/>
          </a:bodyPr>
          <a:lstStyle/>
          <a:p>
            <a:pPr algn="ctr">
              <a:defRPr sz="1035" b="0">
                <a:solidFill>
                  <a:srgbClr val="111111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</a:defRPr>
            </a:pPr>
            <a:r>
              <a:rPr sz="1035" b="0">
                <a:solidFill>
                  <a:srgbClr val="111111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</a:rPr>
              <a:t>Observed</a:t>
            </a:r>
            <a:endParaRPr sz="1035" b="0">
              <a:solidFill>
                <a:srgbClr val="111111"/>
              </a:solidFill>
              <a:latin typeface="Arial Narrow" panose="020B0606020202030204"/>
              <a:ea typeface="Arial Narrow" panose="020B0606020202030204"/>
              <a:cs typeface="Arial Narrow" panose="020B0606020202030204"/>
            </a:endParaRPr>
          </a:p>
          <a:p>
            <a:pPr algn="ctr">
              <a:defRPr sz="1035" b="0">
                <a:solidFill>
                  <a:srgbClr val="111111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</a:defRPr>
            </a:pPr>
            <a:r>
              <a:rPr sz="1035" b="0">
                <a:solidFill>
                  <a:srgbClr val="111111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</a:rPr>
              <a:t>angle</a:t>
            </a:r>
            <a:endParaRPr sz="1035" b="0">
              <a:solidFill>
                <a:srgbClr val="111111"/>
              </a:solidFill>
              <a:latin typeface="Arial Narrow" panose="020B0606020202030204"/>
              <a:ea typeface="Arial Narrow" panose="020B0606020202030204"/>
              <a:cs typeface="Arial Narrow" panose="020B0606020202030204"/>
            </a:endParaRPr>
          </a:p>
          <a:p>
            <a:pPr algn="ctr">
              <a:defRPr sz="1035" b="0">
                <a:solidFill>
                  <a:srgbClr val="111111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</a:defRPr>
            </a:pPr>
            <a:r>
              <a:rPr sz="1035" b="0">
                <a:solidFill>
                  <a:srgbClr val="111111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</a:rPr>
              <a:t>γobs</a:t>
            </a:r>
            <a:endParaRPr sz="1035" b="0">
              <a:solidFill>
                <a:srgbClr val="111111"/>
              </a:solidFill>
              <a:latin typeface="Arial Narrow" panose="020B0606020202030204"/>
              <a:ea typeface="Arial Narrow" panose="020B0606020202030204"/>
              <a:cs typeface="Arial Narrow" panose="020B0606020202030204"/>
            </a:endParaRPr>
          </a:p>
        </p:txBody>
      </p:sp>
      <p:sp>
        <p:nvSpPr>
          <p:cNvPr id="117" name="R6-evidence-3"/>
          <p:cNvSpPr>
            <a:spLocks noGrp="1"/>
          </p:cNvSpPr>
          <p:nvPr/>
        </p:nvSpPr>
        <p:spPr>
          <a:xfrm>
            <a:off x="4152900" y="4019550"/>
            <a:ext cx="885825" cy="428625"/>
          </a:xfrm>
          <a:prstGeom prst="roundRect">
            <a:avLst>
              <a:gd name="adj" fmla="val 11111"/>
            </a:avLst>
          </a:prstGeom>
          <a:solidFill>
            <a:srgbClr val="A3CBDB"/>
          </a:solidFill>
          <a:ln w="4763">
            <a:solidFill>
              <a:srgbClr val="A3CBDB"/>
            </a:solidFill>
            <a:prstDash val="solid"/>
          </a:ln>
        </p:spPr>
        <p:txBody>
          <a:bodyPr wrap="square" lIns="9525" tIns="9525" rIns="9525" bIns="9525" anchor="ctr">
            <a:normAutofit fontScale="80658"/>
          </a:bodyPr>
          <a:lstStyle/>
          <a:p>
            <a:pPr algn="ctr">
              <a:defRPr sz="1035" b="0">
                <a:solidFill>
                  <a:srgbClr val="111111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</a:defRPr>
            </a:pPr>
            <a:r>
              <a:rPr sz="1035" b="0">
                <a:solidFill>
                  <a:srgbClr val="111111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</a:rPr>
              <a:t>Critical</a:t>
            </a:r>
            <a:endParaRPr sz="1035" b="0">
              <a:solidFill>
                <a:srgbClr val="111111"/>
              </a:solidFill>
              <a:latin typeface="Arial Narrow" panose="020B0606020202030204"/>
              <a:ea typeface="Arial Narrow" panose="020B0606020202030204"/>
              <a:cs typeface="Arial Narrow" panose="020B0606020202030204"/>
            </a:endParaRPr>
          </a:p>
          <a:p>
            <a:pPr algn="ctr">
              <a:defRPr sz="1035" b="0">
                <a:solidFill>
                  <a:srgbClr val="111111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</a:defRPr>
            </a:pPr>
            <a:r>
              <a:rPr sz="1035" b="0">
                <a:solidFill>
                  <a:srgbClr val="111111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</a:rPr>
              <a:t>angle</a:t>
            </a:r>
            <a:endParaRPr sz="1035" b="0">
              <a:solidFill>
                <a:srgbClr val="111111"/>
              </a:solidFill>
              <a:latin typeface="Arial Narrow" panose="020B0606020202030204"/>
              <a:ea typeface="Arial Narrow" panose="020B0606020202030204"/>
              <a:cs typeface="Arial Narrow" panose="020B0606020202030204"/>
            </a:endParaRPr>
          </a:p>
          <a:p>
            <a:pPr algn="ctr">
              <a:defRPr sz="1035" b="0">
                <a:solidFill>
                  <a:srgbClr val="111111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</a:defRPr>
            </a:pPr>
            <a:r>
              <a:rPr sz="1035" b="0">
                <a:solidFill>
                  <a:srgbClr val="111111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</a:rPr>
              <a:t>γcrit</a:t>
            </a:r>
            <a:endParaRPr sz="1035" b="0">
              <a:solidFill>
                <a:srgbClr val="111111"/>
              </a:solidFill>
              <a:latin typeface="Arial Narrow" panose="020B0606020202030204"/>
              <a:ea typeface="Arial Narrow" panose="020B0606020202030204"/>
              <a:cs typeface="Arial Narrow" panose="020B0606020202030204"/>
            </a:endParaRPr>
          </a:p>
        </p:txBody>
      </p:sp>
      <p:sp>
        <p:nvSpPr>
          <p:cNvPr id="118" name="R6-condition"/>
          <p:cNvSpPr>
            <a:spLocks noGrp="1"/>
          </p:cNvSpPr>
          <p:nvPr/>
        </p:nvSpPr>
        <p:spPr>
          <a:xfrm>
            <a:off x="5162550" y="3990975"/>
            <a:ext cx="1114425" cy="485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" tIns="0" rIns="9525" bIns="0" anchor="ctr">
            <a:normAutofit fontScale="79847"/>
          </a:bodyPr>
          <a:lstStyle/>
          <a:p>
            <a:pPr algn="ctr">
              <a:defRPr sz="1000" b="0">
                <a:solidFill>
                  <a:srgbClr val="111111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</a:defRPr>
            </a:pPr>
            <a:r>
              <a:rPr sz="1000" b="0">
                <a:solidFill>
                  <a:srgbClr val="111111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</a:rPr>
              <a:t>Positive reversal test</a:t>
            </a:r>
            <a:endParaRPr sz="1000" b="0">
              <a:solidFill>
                <a:srgbClr val="111111"/>
              </a:solidFill>
              <a:latin typeface="Arial Narrow" panose="020B0606020202030204"/>
              <a:ea typeface="Arial Narrow" panose="020B0606020202030204"/>
              <a:cs typeface="Arial Narrow" panose="020B0606020202030204"/>
            </a:endParaRPr>
          </a:p>
          <a:p>
            <a:pPr algn="ctr">
              <a:defRPr sz="1000" b="0">
                <a:solidFill>
                  <a:srgbClr val="111111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</a:defRPr>
            </a:pPr>
            <a:r>
              <a:rPr sz="1000" b="0">
                <a:solidFill>
                  <a:srgbClr val="111111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</a:rPr>
              <a:t>(R+, Ra, Rb, Rc; e.g. Ra ≤ 5°,</a:t>
            </a:r>
            <a:endParaRPr sz="1000" b="0">
              <a:solidFill>
                <a:srgbClr val="111111"/>
              </a:solidFill>
              <a:latin typeface="Arial Narrow" panose="020B0606020202030204"/>
              <a:ea typeface="Arial Narrow" panose="020B0606020202030204"/>
              <a:cs typeface="Arial Narrow" panose="020B0606020202030204"/>
            </a:endParaRPr>
          </a:p>
          <a:p>
            <a:pPr algn="ctr">
              <a:defRPr sz="1000" b="0">
                <a:solidFill>
                  <a:srgbClr val="111111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</a:defRPr>
            </a:pPr>
            <a:r>
              <a:rPr sz="1000" b="0">
                <a:solidFill>
                  <a:srgbClr val="111111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</a:rPr>
              <a:t>Rb = 5°-10°, Rc = 10°-20°)</a:t>
            </a:r>
            <a:endParaRPr sz="1000" b="0">
              <a:solidFill>
                <a:srgbClr val="111111"/>
              </a:solidFill>
              <a:latin typeface="Arial Narrow" panose="020B0606020202030204"/>
              <a:ea typeface="Arial Narrow" panose="020B0606020202030204"/>
              <a:cs typeface="Arial Narrow" panose="020B0606020202030204"/>
            </a:endParaRPr>
          </a:p>
        </p:txBody>
      </p:sp>
      <p:sp>
        <p:nvSpPr>
          <p:cNvPr id="119" name="R6-pass"/>
          <p:cNvSpPr>
            <a:spLocks noGrp="1"/>
          </p:cNvSpPr>
          <p:nvPr/>
        </p:nvSpPr>
        <p:spPr>
          <a:xfrm>
            <a:off x="6429375" y="3990975"/>
            <a:ext cx="5524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240" b="0">
                <a:solidFill>
                  <a:srgbClr val="111111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</a:defRPr>
            </a:pPr>
            <a:r>
              <a:rPr sz="1240" b="0">
                <a:solidFill>
                  <a:srgbClr val="111111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</a:rPr>
              <a:t>Pass→1</a:t>
            </a:r>
            <a:endParaRPr sz="1240" b="0">
              <a:solidFill>
                <a:srgbClr val="111111"/>
              </a:solidFill>
              <a:latin typeface="Arial Narrow" panose="020B0606020202030204"/>
              <a:ea typeface="Arial Narrow" panose="020B0606020202030204"/>
              <a:cs typeface="Arial Narrow" panose="020B0606020202030204"/>
            </a:endParaRPr>
          </a:p>
        </p:txBody>
      </p:sp>
      <p:sp>
        <p:nvSpPr>
          <p:cNvPr id="120" name="R6-fail"/>
          <p:cNvSpPr>
            <a:spLocks noGrp="1"/>
          </p:cNvSpPr>
          <p:nvPr/>
        </p:nvSpPr>
        <p:spPr>
          <a:xfrm>
            <a:off x="6429375" y="4229100"/>
            <a:ext cx="5524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240" b="0">
                <a:solidFill>
                  <a:srgbClr val="111111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</a:defRPr>
            </a:pPr>
            <a:r>
              <a:rPr sz="1240" b="0">
                <a:solidFill>
                  <a:srgbClr val="111111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</a:rPr>
              <a:t>Fail→0</a:t>
            </a:r>
            <a:endParaRPr sz="1240" b="0">
              <a:solidFill>
                <a:srgbClr val="111111"/>
              </a:solidFill>
              <a:latin typeface="Arial Narrow" panose="020B0606020202030204"/>
              <a:ea typeface="Arial Narrow" panose="020B0606020202030204"/>
              <a:cs typeface="Arial Narrow" panose="020B0606020202030204"/>
            </a:endParaRPr>
          </a:p>
        </p:txBody>
      </p:sp>
      <p:sp>
        <p:nvSpPr>
          <p:cNvPr id="121" name="R7-criterion-card"/>
          <p:cNvSpPr>
            <a:spLocks noGrp="1"/>
          </p:cNvSpPr>
          <p:nvPr/>
        </p:nvSpPr>
        <p:spPr>
          <a:xfrm>
            <a:off x="454025" y="4572000"/>
            <a:ext cx="1505585" cy="571500"/>
          </a:xfrm>
          <a:prstGeom prst="roundRect">
            <a:avLst>
              <a:gd name="adj" fmla="val 10000"/>
            </a:avLst>
          </a:prstGeom>
          <a:solidFill>
            <a:srgbClr val="AEC6DC"/>
          </a:solidFill>
          <a:ln w="0">
            <a:solidFill>
              <a:srgbClr val="AEC6DC"/>
            </a:solidFill>
            <a:prstDash val="solid"/>
          </a:ln>
        </p:spPr>
      </p:sp>
      <p:sp>
        <p:nvSpPr>
          <p:cNvPr id="122" name="R7-title"/>
          <p:cNvSpPr>
            <a:spLocks noGrp="1"/>
          </p:cNvSpPr>
          <p:nvPr/>
        </p:nvSpPr>
        <p:spPr>
          <a:xfrm>
            <a:off x="520700" y="4591050"/>
            <a:ext cx="152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/>
          <a:p>
            <a:pPr algn="l">
              <a:defRPr sz="1155" b="1">
                <a:solidFill>
                  <a:srgbClr val="111111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</a:defRPr>
            </a:pPr>
            <a:r>
              <a:rPr sz="1000" b="1">
                <a:solidFill>
                  <a:srgbClr val="111111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</a:rPr>
              <a:t>R7 Younger-Origin Check</a:t>
            </a:r>
            <a:endParaRPr sz="1000" b="1">
              <a:solidFill>
                <a:srgbClr val="111111"/>
              </a:solidFill>
              <a:latin typeface="Arial Narrow" panose="020B0606020202030204"/>
              <a:ea typeface="Arial Narrow" panose="020B0606020202030204"/>
              <a:cs typeface="Arial Narrow" panose="020B0606020202030204"/>
            </a:endParaRPr>
          </a:p>
        </p:txBody>
      </p:sp>
      <p:sp>
        <p:nvSpPr>
          <p:cNvPr id="123" name="R7-question"/>
          <p:cNvSpPr>
            <a:spLocks noGrp="1"/>
          </p:cNvSpPr>
          <p:nvPr/>
        </p:nvSpPr>
        <p:spPr>
          <a:xfrm>
            <a:off x="520700" y="4810125"/>
            <a:ext cx="15049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1358"/>
          </a:bodyPr>
          <a:lstStyle/>
          <a:p>
            <a:pPr algn="l">
              <a:defRPr sz="1165" b="0">
                <a:solidFill>
                  <a:srgbClr val="111111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</a:defRPr>
            </a:pPr>
            <a:r>
              <a:rPr sz="1165" b="0">
                <a:solidFill>
                  <a:srgbClr val="111111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</a:rPr>
              <a:t>Can a younger origin</a:t>
            </a:r>
            <a:endParaRPr sz="1165" b="0">
              <a:solidFill>
                <a:srgbClr val="111111"/>
              </a:solidFill>
              <a:latin typeface="Arial Narrow" panose="020B0606020202030204"/>
              <a:ea typeface="Arial Narrow" panose="020B0606020202030204"/>
              <a:cs typeface="Arial Narrow" panose="020B0606020202030204"/>
            </a:endParaRPr>
          </a:p>
          <a:p>
            <a:pPr algn="l">
              <a:defRPr sz="1165" b="0">
                <a:solidFill>
                  <a:srgbClr val="111111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</a:defRPr>
            </a:pPr>
            <a:r>
              <a:rPr sz="1165" b="0">
                <a:solidFill>
                  <a:srgbClr val="111111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</a:rPr>
              <a:t>be ruled out?</a:t>
            </a:r>
            <a:endParaRPr sz="1165" b="0">
              <a:solidFill>
                <a:srgbClr val="111111"/>
              </a:solidFill>
              <a:latin typeface="Arial Narrow" panose="020B0606020202030204"/>
              <a:ea typeface="Arial Narrow" panose="020B0606020202030204"/>
              <a:cs typeface="Arial Narrow" panose="020B0606020202030204"/>
            </a:endParaRPr>
          </a:p>
        </p:txBody>
      </p:sp>
      <p:sp>
        <p:nvSpPr>
          <p:cNvPr id="125" name="R7-evidence-1"/>
          <p:cNvSpPr>
            <a:spLocks noGrp="1"/>
          </p:cNvSpPr>
          <p:nvPr/>
        </p:nvSpPr>
        <p:spPr>
          <a:xfrm>
            <a:off x="2181225" y="4619625"/>
            <a:ext cx="704850" cy="285750"/>
          </a:xfrm>
          <a:prstGeom prst="roundRect">
            <a:avLst>
              <a:gd name="adj" fmla="val 16667"/>
            </a:avLst>
          </a:prstGeom>
          <a:solidFill>
            <a:srgbClr val="AEC6DC"/>
          </a:solidFill>
          <a:ln w="4763">
            <a:solidFill>
              <a:srgbClr val="AEC6DC"/>
            </a:solidFill>
            <a:prstDash val="solid"/>
          </a:ln>
        </p:spPr>
        <p:txBody>
          <a:bodyPr wrap="square" lIns="9525" tIns="9525" rIns="9525" bIns="9525" anchor="ctr">
            <a:normAutofit fontScale="72010"/>
          </a:bodyPr>
          <a:lstStyle/>
          <a:p>
            <a:pPr algn="ctr">
              <a:defRPr sz="1090" b="0">
                <a:solidFill>
                  <a:srgbClr val="111111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</a:defRPr>
            </a:pPr>
            <a:r>
              <a:rPr sz="1090" b="0">
                <a:solidFill>
                  <a:srgbClr val="111111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</a:rPr>
              <a:t>Pole</a:t>
            </a:r>
            <a:endParaRPr sz="1090" b="0">
              <a:solidFill>
                <a:srgbClr val="111111"/>
              </a:solidFill>
              <a:latin typeface="Arial Narrow" panose="020B0606020202030204"/>
              <a:ea typeface="Arial Narrow" panose="020B0606020202030204"/>
              <a:cs typeface="Arial Narrow" panose="020B0606020202030204"/>
            </a:endParaRPr>
          </a:p>
          <a:p>
            <a:pPr algn="ctr">
              <a:defRPr sz="1090" b="0">
                <a:solidFill>
                  <a:srgbClr val="111111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</a:defRPr>
            </a:pPr>
            <a:r>
              <a:rPr sz="1090" b="0">
                <a:solidFill>
                  <a:srgbClr val="111111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</a:rPr>
              <a:t>coordinates</a:t>
            </a:r>
            <a:endParaRPr sz="1090" b="0">
              <a:solidFill>
                <a:srgbClr val="111111"/>
              </a:solidFill>
              <a:latin typeface="Arial Narrow" panose="020B0606020202030204"/>
              <a:ea typeface="Arial Narrow" panose="020B0606020202030204"/>
              <a:cs typeface="Arial Narrow" panose="020B0606020202030204"/>
            </a:endParaRPr>
          </a:p>
        </p:txBody>
      </p:sp>
      <p:sp>
        <p:nvSpPr>
          <p:cNvPr id="126" name="R7-evidence-2"/>
          <p:cNvSpPr>
            <a:spLocks noGrp="1"/>
          </p:cNvSpPr>
          <p:nvPr/>
        </p:nvSpPr>
        <p:spPr>
          <a:xfrm>
            <a:off x="2924175" y="4619625"/>
            <a:ext cx="295275" cy="285750"/>
          </a:xfrm>
          <a:prstGeom prst="roundRect">
            <a:avLst>
              <a:gd name="adj" fmla="val 16667"/>
            </a:avLst>
          </a:prstGeom>
          <a:solidFill>
            <a:srgbClr val="AEC6DC"/>
          </a:solidFill>
          <a:ln w="4763">
            <a:solidFill>
              <a:srgbClr val="AEC6DC"/>
            </a:solidFill>
            <a:prstDash val="solid"/>
          </a:ln>
        </p:spPr>
        <p:txBody>
          <a:bodyPr wrap="square" lIns="9525" tIns="9525" rIns="9525" bIns="9525" anchor="ctr">
            <a:normAutofit/>
          </a:bodyPr>
          <a:lstStyle/>
          <a:p>
            <a:pPr algn="ctr">
              <a:defRPr sz="1090" b="0">
                <a:solidFill>
                  <a:srgbClr val="111111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</a:defRPr>
            </a:pPr>
            <a:r>
              <a:rPr sz="1090" b="0">
                <a:solidFill>
                  <a:srgbClr val="111111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</a:rPr>
              <a:t>A95</a:t>
            </a:r>
            <a:endParaRPr sz="1090" b="0">
              <a:solidFill>
                <a:srgbClr val="111111"/>
              </a:solidFill>
              <a:latin typeface="Arial Narrow" panose="020B0606020202030204"/>
              <a:ea typeface="Arial Narrow" panose="020B0606020202030204"/>
              <a:cs typeface="Arial Narrow" panose="020B0606020202030204"/>
            </a:endParaRPr>
          </a:p>
        </p:txBody>
      </p:sp>
      <p:sp>
        <p:nvSpPr>
          <p:cNvPr id="127" name="R7-evidence-3"/>
          <p:cNvSpPr>
            <a:spLocks noGrp="1"/>
          </p:cNvSpPr>
          <p:nvPr/>
        </p:nvSpPr>
        <p:spPr>
          <a:xfrm>
            <a:off x="3257550" y="4619625"/>
            <a:ext cx="457200" cy="285750"/>
          </a:xfrm>
          <a:prstGeom prst="roundRect">
            <a:avLst>
              <a:gd name="adj" fmla="val 16667"/>
            </a:avLst>
          </a:prstGeom>
          <a:solidFill>
            <a:srgbClr val="AEC6DC"/>
          </a:solidFill>
          <a:ln w="4763">
            <a:solidFill>
              <a:srgbClr val="AEC6DC"/>
            </a:solidFill>
            <a:prstDash val="solid"/>
          </a:ln>
        </p:spPr>
        <p:txBody>
          <a:bodyPr wrap="square" lIns="9525" tIns="9525" rIns="9525" bIns="9525" anchor="ctr">
            <a:normAutofit fontScale="91940"/>
          </a:bodyPr>
          <a:lstStyle/>
          <a:p>
            <a:pPr algn="ctr">
              <a:defRPr sz="1090" b="0">
                <a:solidFill>
                  <a:srgbClr val="111111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</a:defRPr>
            </a:pPr>
            <a:r>
              <a:rPr sz="1090" b="0">
                <a:solidFill>
                  <a:srgbClr val="111111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</a:rPr>
              <a:t>Age Gap</a:t>
            </a:r>
            <a:endParaRPr sz="1090" b="0">
              <a:solidFill>
                <a:srgbClr val="111111"/>
              </a:solidFill>
              <a:latin typeface="Arial Narrow" panose="020B0606020202030204"/>
              <a:ea typeface="Arial Narrow" panose="020B0606020202030204"/>
              <a:cs typeface="Arial Narrow" panose="020B0606020202030204"/>
            </a:endParaRPr>
          </a:p>
        </p:txBody>
      </p:sp>
      <p:sp>
        <p:nvSpPr>
          <p:cNvPr id="128" name="R7-evidence-4"/>
          <p:cNvSpPr>
            <a:spLocks noGrp="1"/>
          </p:cNvSpPr>
          <p:nvPr/>
        </p:nvSpPr>
        <p:spPr>
          <a:xfrm>
            <a:off x="3752850" y="4619625"/>
            <a:ext cx="542925" cy="285750"/>
          </a:xfrm>
          <a:prstGeom prst="roundRect">
            <a:avLst>
              <a:gd name="adj" fmla="val 16667"/>
            </a:avLst>
          </a:prstGeom>
          <a:solidFill>
            <a:srgbClr val="AEC6DC"/>
          </a:solidFill>
          <a:ln w="4763">
            <a:solidFill>
              <a:srgbClr val="AEC6DC"/>
            </a:solidFill>
            <a:prstDash val="solid"/>
          </a:ln>
        </p:spPr>
        <p:txBody>
          <a:bodyPr wrap="square" lIns="9525" tIns="9525" rIns="9525" bIns="9525" anchor="ctr">
            <a:normAutofit fontScale="93733"/>
          </a:bodyPr>
          <a:lstStyle/>
          <a:p>
            <a:pPr algn="ctr">
              <a:defRPr sz="1090" b="0">
                <a:solidFill>
                  <a:srgbClr val="111111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</a:defRPr>
            </a:pPr>
            <a:r>
              <a:rPr sz="1090" b="0">
                <a:solidFill>
                  <a:srgbClr val="111111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</a:rPr>
              <a:t>Younger R</a:t>
            </a:r>
            <a:endParaRPr sz="1090" b="0">
              <a:solidFill>
                <a:srgbClr val="111111"/>
              </a:solidFill>
              <a:latin typeface="Arial Narrow" panose="020B0606020202030204"/>
              <a:ea typeface="Arial Narrow" panose="020B0606020202030204"/>
              <a:cs typeface="Arial Narrow" panose="020B0606020202030204"/>
            </a:endParaRPr>
          </a:p>
        </p:txBody>
      </p:sp>
      <p:sp>
        <p:nvSpPr>
          <p:cNvPr id="129" name="R7-evidence-5"/>
          <p:cNvSpPr>
            <a:spLocks noGrp="1"/>
          </p:cNvSpPr>
          <p:nvPr/>
        </p:nvSpPr>
        <p:spPr>
          <a:xfrm>
            <a:off x="2924175" y="4924425"/>
            <a:ext cx="1371600" cy="171450"/>
          </a:xfrm>
          <a:prstGeom prst="roundRect">
            <a:avLst>
              <a:gd name="adj" fmla="val 27778"/>
            </a:avLst>
          </a:prstGeom>
          <a:solidFill>
            <a:srgbClr val="AEC6DC"/>
          </a:solidFill>
          <a:ln w="4763">
            <a:solidFill>
              <a:srgbClr val="AEC6DC"/>
            </a:solidFill>
            <a:prstDash val="solid"/>
          </a:ln>
        </p:spPr>
        <p:txBody>
          <a:bodyPr wrap="square" lIns="9525" tIns="9525" rIns="9525" bIns="9525" anchor="ctr">
            <a:normAutofit fontScale="75087"/>
          </a:bodyPr>
          <a:lstStyle/>
          <a:p>
            <a:pPr algn="ctr">
              <a:defRPr sz="1090" b="0">
                <a:solidFill>
                  <a:srgbClr val="111111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</a:defRPr>
            </a:pPr>
            <a:r>
              <a:rPr sz="1090" b="0">
                <a:solidFill>
                  <a:srgbClr val="111111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</a:rPr>
              <a:t>Stable Craton evidence</a:t>
            </a:r>
            <a:endParaRPr sz="1090" b="0">
              <a:solidFill>
                <a:srgbClr val="111111"/>
              </a:solidFill>
              <a:latin typeface="Arial Narrow" panose="020B0606020202030204"/>
              <a:ea typeface="Arial Narrow" panose="020B0606020202030204"/>
              <a:cs typeface="Arial Narrow" panose="020B0606020202030204"/>
            </a:endParaRPr>
          </a:p>
        </p:txBody>
      </p:sp>
      <p:sp>
        <p:nvSpPr>
          <p:cNvPr id="130" name="R7-condition"/>
          <p:cNvSpPr>
            <a:spLocks noGrp="1"/>
          </p:cNvSpPr>
          <p:nvPr/>
        </p:nvSpPr>
        <p:spPr>
          <a:xfrm>
            <a:off x="4352925" y="4619625"/>
            <a:ext cx="191452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" tIns="0" rIns="9525" bIns="0" anchor="ctr">
            <a:normAutofit/>
          </a:bodyPr>
          <a:lstStyle/>
          <a:p>
            <a:pPr algn="ctr">
              <a:defRPr sz="1065" b="0">
                <a:solidFill>
                  <a:srgbClr val="111111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</a:defRPr>
            </a:pPr>
            <a:r>
              <a:rPr sz="1065" b="0">
                <a:solidFill>
                  <a:srgbClr val="111111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</a:rPr>
              <a:t>No qualifying younger pole</a:t>
            </a:r>
            <a:endParaRPr sz="1065" b="0">
              <a:solidFill>
                <a:srgbClr val="111111"/>
              </a:solidFill>
              <a:latin typeface="Arial Narrow" panose="020B0606020202030204"/>
              <a:ea typeface="Arial Narrow" panose="020B0606020202030204"/>
              <a:cs typeface="Arial Narrow" panose="020B0606020202030204"/>
            </a:endParaRPr>
          </a:p>
          <a:p>
            <a:pPr algn="ctr">
              <a:defRPr sz="1065" b="0">
                <a:solidFill>
                  <a:srgbClr val="111111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</a:defRPr>
            </a:pPr>
            <a:r>
              <a:rPr sz="1065" b="0">
                <a:solidFill>
                  <a:srgbClr val="111111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</a:rPr>
              <a:t>match, or older evidence.</a:t>
            </a:r>
            <a:endParaRPr sz="1065" b="0">
              <a:solidFill>
                <a:srgbClr val="111111"/>
              </a:solidFill>
              <a:latin typeface="Arial Narrow" panose="020B0606020202030204"/>
              <a:ea typeface="Arial Narrow" panose="020B0606020202030204"/>
              <a:cs typeface="Arial Narrow" panose="020B0606020202030204"/>
            </a:endParaRPr>
          </a:p>
        </p:txBody>
      </p:sp>
      <p:sp>
        <p:nvSpPr>
          <p:cNvPr id="131" name="R7-pass"/>
          <p:cNvSpPr>
            <a:spLocks noGrp="1"/>
          </p:cNvSpPr>
          <p:nvPr/>
        </p:nvSpPr>
        <p:spPr>
          <a:xfrm>
            <a:off x="6429375" y="4619625"/>
            <a:ext cx="5524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240" b="0">
                <a:solidFill>
                  <a:srgbClr val="111111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</a:defRPr>
            </a:pPr>
            <a:r>
              <a:rPr sz="1240" b="0">
                <a:solidFill>
                  <a:srgbClr val="111111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</a:rPr>
              <a:t>Pass→1</a:t>
            </a:r>
            <a:endParaRPr sz="1240" b="0">
              <a:solidFill>
                <a:srgbClr val="111111"/>
              </a:solidFill>
              <a:latin typeface="Arial Narrow" panose="020B0606020202030204"/>
              <a:ea typeface="Arial Narrow" panose="020B0606020202030204"/>
              <a:cs typeface="Arial Narrow" panose="020B0606020202030204"/>
            </a:endParaRPr>
          </a:p>
        </p:txBody>
      </p:sp>
      <p:sp>
        <p:nvSpPr>
          <p:cNvPr id="132" name="R7-fail"/>
          <p:cNvSpPr>
            <a:spLocks noGrp="1"/>
          </p:cNvSpPr>
          <p:nvPr/>
        </p:nvSpPr>
        <p:spPr>
          <a:xfrm>
            <a:off x="6429375" y="4857750"/>
            <a:ext cx="5524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240" b="0">
                <a:solidFill>
                  <a:srgbClr val="111111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</a:defRPr>
            </a:pPr>
            <a:r>
              <a:rPr sz="1240" b="0">
                <a:solidFill>
                  <a:srgbClr val="111111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</a:rPr>
              <a:t>Fail→0</a:t>
            </a:r>
            <a:endParaRPr sz="1240" b="0">
              <a:solidFill>
                <a:srgbClr val="111111"/>
              </a:solidFill>
              <a:latin typeface="Arial Narrow" panose="020B0606020202030204"/>
              <a:ea typeface="Arial Narrow" panose="020B0606020202030204"/>
              <a:cs typeface="Arial Narrow" panose="020B0606020202030204"/>
            </a:endParaRPr>
          </a:p>
        </p:txBody>
      </p:sp>
      <p:sp>
        <p:nvSpPr>
          <p:cNvPr id="133" name="R7-review"/>
          <p:cNvSpPr>
            <a:spLocks noGrp="1"/>
          </p:cNvSpPr>
          <p:nvPr/>
        </p:nvSpPr>
        <p:spPr>
          <a:xfrm>
            <a:off x="6448425" y="5029200"/>
            <a:ext cx="523875" cy="123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86620"/>
          </a:bodyPr>
          <a:lstStyle/>
          <a:p>
            <a:pPr algn="ctr">
              <a:defRPr sz="940" b="0">
                <a:solidFill>
                  <a:srgbClr val="D9781E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</a:defRPr>
            </a:pPr>
            <a:r>
              <a:rPr sz="940" b="0">
                <a:solidFill>
                  <a:srgbClr val="D9781E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</a:rPr>
              <a:t>Review</a:t>
            </a:r>
            <a:endParaRPr sz="940" b="0">
              <a:solidFill>
                <a:srgbClr val="D9781E"/>
              </a:solidFill>
              <a:latin typeface="Arial Narrow" panose="020B0606020202030204"/>
              <a:ea typeface="Arial Narrow" panose="020B0606020202030204"/>
              <a:cs typeface="Arial Narrow" panose="020B060602020203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1272</Words>
  <Application>WPS 演示</Application>
  <PresentationFormat>Converted Presentation</PresentationFormat>
  <Paragraphs>161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4" baseType="lpstr">
      <vt:lpstr>Arial</vt:lpstr>
      <vt:lpstr>宋体</vt:lpstr>
      <vt:lpstr>Wingdings</vt:lpstr>
      <vt:lpstr>Arial Narrow</vt:lpstr>
      <vt:lpstr>微软雅黑</vt:lpstr>
      <vt:lpstr>汉仪旗黑</vt:lpstr>
      <vt:lpstr>宋体</vt:lpstr>
      <vt:lpstr>Arial Unicode MS</vt:lpstr>
      <vt:lpstr>汉仪书宋二KW</vt:lpstr>
      <vt:lpstr>Calibri</vt:lpstr>
      <vt:lpstr>Helvetica Neue</vt:lpstr>
      <vt:lpstr>Arial Narrow</vt:lpstr>
      <vt:lpstr>ChatGPT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李泓达</cp:lastModifiedBy>
  <cp:revision>1</cp:revision>
  <dcterms:created xsi:type="dcterms:W3CDTF">2026-07-21T04:34:50Z</dcterms:created>
  <dcterms:modified xsi:type="dcterms:W3CDTF">2026-07-21T04:34:50Z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2052-12.1.26026.26026</vt:lpwstr>
  </property>
  <property fmtid="{D5CDD505-2E9C-101B-9397-08002B2CF9AE}" pid="3" name="ICV">
    <vt:lpwstr>412D75C5F9E836C2EAF65E6A2597AE03_42</vt:lpwstr>
  </property>
</Properties>
</file>